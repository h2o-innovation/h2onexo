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,
  <Override PartName="/ppt/slides/slide2.xml" ContentType="application/vnd.openxmlformats-officedocument.presentationml.slide+xml"/>
  ,
  <Override PartName="/ppt/slides/slide3.xml" ContentType="application/vnd.openxmlformats-officedocument.presentationml.slide+xml"/>
  ,
  <Override PartName="/ppt/slides/slide4.xml" ContentType="application/vnd.openxmlformats-officedocument.presentationml.slide+xml"/>
  ,
  <Override PartName="/ppt/slides/slide5.xml" ContentType="application/vnd.openxmlformats-officedocument.presentationml.slide+xml"/>
  ,
  <Override PartName="/ppt/slides/slide6.xml" ContentType="application/vnd.openxmlformats-officedocument.presentationml.slide+xml"/>
  ,
  <Override PartName="/ppt/slides/slide7.xml" ContentType="application/vnd.openxmlformats-officedocument.presentationml.slide+xml"/>
  ,
  <Override PartName="/ppt/slides/slide8.xml" ContentType="application/vnd.openxmlformats-officedocument.presentationml.slide+xml"/>
  ,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  <p:defaultTextStyle>
    <a:defPPr/>
    <a:lvl1pPr marL="0" algn="l"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Shape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1" name="Shape 11"/>
          <p:cNvSpPr txBox="1"/>
          <p:nvPr/>
        </p:nvSpPr>
        <p:spPr>
          <a:xfrm>
            <a:off x="685800" y="742950"/>
            <a:ext cx="1238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800" b="1" typeface="JetBrains Mono">
                <a:solidFill>
                  <a:srgbClr val="43B9F1"/>
                </a:solidFill>
              </a:rPr>
              <a:t>H₂O</a:t>
            </a:r>
            <a:endParaRPr lang="pt-BR" sz="2800" typeface="JetBrains Mono"/>
          </a:p>
        </p:txBody>
      </p:sp>
      <p:sp>
        <p:nvSpPr>
          <p:cNvPr id="12" name="Shape 12"/>
          <p:cNvSpPr txBox="1"/>
          <p:nvPr/>
        </p:nvSpPr>
        <p:spPr>
          <a:xfrm>
            <a:off x="1885950" y="742950"/>
            <a:ext cx="1619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800" b="1" typeface="Inter">
                <a:solidFill>
                  <a:srgbClr val="F6FAFC"/>
                </a:solidFill>
              </a:rPr>
              <a:t>Nexo</a:t>
            </a:r>
            <a:endParaRPr lang="pt-BR" sz="2800" typeface="Inter"/>
          </a:p>
        </p:txBody>
      </p:sp>
      <p:sp>
        <p:nvSpPr>
          <p:cNvPr id="13" name="Shape 13"/>
          <p:cNvSpPr txBox="1"/>
          <p:nvPr/>
        </p:nvSpPr>
        <p:spPr>
          <a:xfrm>
            <a:off x="685800" y="17526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Inter">
                <a:solidFill>
                  <a:srgbClr val="43B9F1"/>
                </a:solidFill>
              </a:rPr>
              <a:t>H2O CHALLENGE 2026</a:t>
            </a:r>
            <a:endParaRPr lang="pt-BR" sz="1200" typeface="Inter"/>
          </a:p>
        </p:txBody>
      </p:sp>
      <p:sp>
        <p:nvSpPr>
          <p:cNvPr id="14" name="Shape 14"/>
          <p:cNvSpPr txBox="1"/>
          <p:nvPr/>
        </p:nvSpPr>
        <p:spPr>
          <a:xfrm>
            <a:off x="685800" y="2171700"/>
            <a:ext cx="5905500" cy="1352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4500" b="1" typeface="Inter">
                <a:solidFill>
                  <a:srgbClr val="F6FAFC"/>
                </a:solidFill>
              </a:rPr>
              <a:t>Uma plataforma white label</a:t>
            </a:r>
            <a:endParaRPr lang="pt-BR" sz="4500" typeface="Inter"/>
          </a:p>
          <a:p>
            <a:pPr algn="left"/>
            <a:r>
              <a:rPr lang="pt-BR" sz="4500" b="1" typeface="Inter">
                <a:solidFill>
                  <a:srgbClr val="F6FAFC"/>
                </a:solidFill>
              </a:rPr>
              <a:t>para transformar respostas em ações.</a:t>
            </a:r>
            <a:endParaRPr lang="pt-BR" sz="4500" typeface="Inter"/>
          </a:p>
        </p:txBody>
      </p:sp>
      <p:sp>
        <p:nvSpPr>
          <p:cNvPr id="15" name="Shape 15"/>
          <p:cNvSpPr txBox="1"/>
          <p:nvPr/>
        </p:nvSpPr>
        <p:spPr>
          <a:xfrm>
            <a:off x="723900" y="3829050"/>
            <a:ext cx="5905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200" typeface="Inter">
                <a:solidFill>
                  <a:srgbClr val="43B9F1"/>
                </a:solidFill>
              </a:rPr>
              <a:t>Crie, compartilhe e transforme respostas em ações.</a:t>
            </a:r>
            <a:endParaRPr lang="pt-BR" sz="2200" typeface="Inter"/>
          </a:p>
        </p:txBody>
      </p:sp>
      <p:sp>
        <p:nvSpPr>
          <p:cNvPr id="16" name="Shape 16"/>
          <p:cNvSpPr txBox="1"/>
          <p:nvPr/>
        </p:nvSpPr>
        <p:spPr>
          <a:xfrm>
            <a:off x="723900" y="4476750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600" typeface="Inter">
                <a:solidFill>
                  <a:srgbClr val="AAB6BD"/>
                </a:solidFill>
              </a:rPr>
              <a:t>Os primeiros casos de uso: cadastro de clientes e pedido de venda.</a:t>
            </a:r>
            <a:endParaRPr lang="pt-BR" sz="1600" typeface="Inter"/>
          </a:p>
        </p:txBody>
      </p:sp>
      <p:sp>
        <p:nvSpPr>
          <p:cNvPr id="17" name="Shape 17"/>
          <p:cNvSpPr txBox="1"/>
          <p:nvPr/>
        </p:nvSpPr>
        <p:spPr>
          <a:xfrm>
            <a:off x="7734300" y="1238250"/>
            <a:ext cx="3238500" cy="40005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8" name="Shape 18"/>
          <p:cNvSpPr txBox="1"/>
          <p:nvPr/>
        </p:nvSpPr>
        <p:spPr>
          <a:xfrm>
            <a:off x="8591550" y="207645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3800" b="1" typeface="JetBrains Mono">
                <a:solidFill>
                  <a:srgbClr val="43B9F1"/>
                </a:solidFill>
              </a:rPr>
              <a:t>H₂O</a:t>
            </a:r>
            <a:endParaRPr lang="pt-BR" sz="3800" typeface="JetBrains Mono"/>
          </a:p>
        </p:txBody>
      </p:sp>
      <p:sp>
        <p:nvSpPr>
          <p:cNvPr id="19" name="Shape 19"/>
          <p:cNvSpPr txBox="1"/>
          <p:nvPr/>
        </p:nvSpPr>
        <p:spPr>
          <a:xfrm>
            <a:off x="8591550" y="257175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2700" b="1" typeface="Inter">
                <a:solidFill>
                  <a:srgbClr val="F6FAFC"/>
                </a:solidFill>
              </a:rPr>
              <a:t>Nexo</a:t>
            </a:r>
            <a:endParaRPr lang="pt-BR" sz="2700" typeface="Inter"/>
          </a:p>
        </p:txBody>
      </p:sp>
      <p:sp>
        <p:nvSpPr>
          <p:cNvPr id="20" name="Line 20"/>
          <p:cNvSpPr/>
          <p:nvPr/>
        </p:nvSpPr>
        <p:spPr>
          <a:xfrm rot="0">
            <a:off x="8382000" y="3257550"/>
            <a:ext cx="1924050" cy="0"/>
          </a:xfrm>
          <a:prstGeom prst="line">
            <a:avLst/>
          </a:prstGeom>
          <a:ln w="9525">
            <a:solidFill>
              <a:srgbClr val="43B9F1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8096250" y="3619500"/>
            <a:ext cx="252412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400" b="1" typeface="Inter">
                <a:solidFill>
                  <a:srgbClr val="AAB6BD"/>
                </a:solidFill>
              </a:rPr>
              <a:t>FORMULÁRIOS  →  PROCESSOS</a:t>
            </a:r>
            <a:endParaRPr lang="pt-BR" sz="1400" typeface="Inter"/>
          </a:p>
        </p:txBody>
      </p:sp>
      <p:sp>
        <p:nvSpPr>
          <p:cNvPr id="22" name="Shape 22"/>
          <p:cNvSpPr txBox="1"/>
          <p:nvPr/>
        </p:nvSpPr>
        <p:spPr>
          <a:xfrm>
            <a:off x="8096250" y="4248150"/>
            <a:ext cx="2524125" cy="523875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400" typeface="Inter">
                <a:solidFill>
                  <a:srgbClr val="AAB6BD"/>
                </a:solidFill>
              </a:rPr>
              <a:t>Cadastro • Vendas • Crédito</a:t>
            </a:r>
            <a:endParaRPr lang="pt-BR" sz="1400" typeface="Inter"/>
          </a:p>
          <a:p>
            <a:pPr algn="center"/>
            <a:r>
              <a:rPr lang="pt-BR" sz="1400" typeface="Inter">
                <a:solidFill>
                  <a:srgbClr val="AAB6BD"/>
                </a:solidFill>
              </a:rPr>
              <a:t>Pesquisas • Inscrições • Operação</a:t>
            </a:r>
            <a:endParaRPr lang="pt-BR" sz="1400" typeface="Inter"/>
          </a:p>
        </p:txBody>
      </p:sp>
      <p:sp>
        <p:nvSpPr>
          <p:cNvPr id="23" name="Shape 23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24" name="Shape 24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01</a:t>
            </a:r>
            <a:endParaRPr lang="pt-BR" sz="1000" typeface="Inte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Shape 25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6" name="Shape 26"/>
          <p:cNvSpPr txBox="1"/>
          <p:nvPr/>
        </p:nvSpPr>
        <p:spPr>
          <a:xfrm>
            <a:off x="609600" y="495300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O DESAFIO</a:t>
            </a:r>
            <a:endParaRPr lang="pt-BR" sz="1100" typeface="Inter"/>
          </a:p>
        </p:txBody>
      </p:sp>
      <p:sp>
        <p:nvSpPr>
          <p:cNvPr id="27" name="Shape 27"/>
          <p:cNvSpPr txBox="1"/>
          <p:nvPr/>
        </p:nvSpPr>
        <p:spPr>
          <a:xfrm>
            <a:off x="609600" y="838200"/>
            <a:ext cx="68580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3400" b="1" typeface="Inter">
                <a:solidFill>
                  <a:srgbClr val="F6FAFC"/>
                </a:solidFill>
              </a:rPr>
              <a:t>Processos diferentes ainda dependem de ferramentas manuais.</a:t>
            </a:r>
            <a:endParaRPr lang="pt-BR" sz="3400" typeface="Inter"/>
          </a:p>
        </p:txBody>
      </p:sp>
      <p:sp>
        <p:nvSpPr>
          <p:cNvPr id="28" name="Shape 28"/>
          <p:cNvSpPr txBox="1"/>
          <p:nvPr/>
        </p:nvSpPr>
        <p:spPr>
          <a:xfrm>
            <a:off x="609600" y="16954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AAB6BD"/>
                </a:solidFill>
              </a:rPr>
              <a:t>Cada empresa tem necessidades específicas, mas a coleta de informações ainda acontece em ferramentas fragmentadas.</a:t>
            </a:r>
            <a:endParaRPr lang="pt-BR" sz="1700" typeface="Inter"/>
          </a:p>
        </p:txBody>
      </p:sp>
      <p:sp>
        <p:nvSpPr>
          <p:cNvPr id="29" name="Shape 29"/>
          <p:cNvSpPr txBox="1"/>
          <p:nvPr/>
        </p:nvSpPr>
        <p:spPr>
          <a:xfrm>
            <a:off x="609600" y="2724150"/>
            <a:ext cx="2266950" cy="10287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30" name="Shape 30"/>
          <p:cNvSpPr txBox="1"/>
          <p:nvPr/>
        </p:nvSpPr>
        <p:spPr>
          <a:xfrm>
            <a:off x="781050" y="2933700"/>
            <a:ext cx="85725" cy="85725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31" name="Shape 31"/>
          <p:cNvSpPr txBox="1"/>
          <p:nvPr/>
        </p:nvSpPr>
        <p:spPr>
          <a:xfrm>
            <a:off x="971550" y="28956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01</a:t>
            </a:r>
            <a:endParaRPr lang="pt-BR" sz="1000" typeface="Inter"/>
          </a:p>
        </p:txBody>
      </p:sp>
      <p:sp>
        <p:nvSpPr>
          <p:cNvPr id="32" name="Shape 32"/>
          <p:cNvSpPr txBox="1"/>
          <p:nvPr/>
        </p:nvSpPr>
        <p:spPr>
          <a:xfrm>
            <a:off x="781050" y="32194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Dados incompletos</a:t>
            </a:r>
            <a:endParaRPr lang="pt-BR" sz="1900" typeface="Inter"/>
          </a:p>
        </p:txBody>
      </p:sp>
      <p:sp>
        <p:nvSpPr>
          <p:cNvPr id="33" name="Shape 33"/>
          <p:cNvSpPr txBox="1"/>
          <p:nvPr/>
        </p:nvSpPr>
        <p:spPr>
          <a:xfrm>
            <a:off x="781050" y="3562350"/>
            <a:ext cx="190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Informações sem padrão dificultam o início do processo.</a:t>
            </a:r>
            <a:endParaRPr lang="pt-BR" sz="1400" typeface="Inter"/>
          </a:p>
        </p:txBody>
      </p:sp>
      <p:sp>
        <p:nvSpPr>
          <p:cNvPr id="34" name="Shape 34"/>
          <p:cNvSpPr txBox="1"/>
          <p:nvPr/>
        </p:nvSpPr>
        <p:spPr>
          <a:xfrm>
            <a:off x="3124200" y="2724150"/>
            <a:ext cx="2266950" cy="10287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35" name="Shape 35"/>
          <p:cNvSpPr txBox="1"/>
          <p:nvPr/>
        </p:nvSpPr>
        <p:spPr>
          <a:xfrm>
            <a:off x="3295650" y="2933700"/>
            <a:ext cx="85725" cy="85725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36" name="Shape 36"/>
          <p:cNvSpPr txBox="1"/>
          <p:nvPr/>
        </p:nvSpPr>
        <p:spPr>
          <a:xfrm>
            <a:off x="3486150" y="28956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02</a:t>
            </a:r>
            <a:endParaRPr lang="pt-BR" sz="1000" typeface="Inter"/>
          </a:p>
        </p:txBody>
      </p:sp>
      <p:sp>
        <p:nvSpPr>
          <p:cNvPr id="37" name="Shape 37"/>
          <p:cNvSpPr txBox="1"/>
          <p:nvPr/>
        </p:nvSpPr>
        <p:spPr>
          <a:xfrm>
            <a:off x="3295650" y="32194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Retrabalho e erros</a:t>
            </a:r>
            <a:endParaRPr lang="pt-BR" sz="1900" typeface="Inter"/>
          </a:p>
        </p:txBody>
      </p:sp>
      <p:sp>
        <p:nvSpPr>
          <p:cNvPr id="38" name="Shape 38"/>
          <p:cNvSpPr txBox="1"/>
          <p:nvPr/>
        </p:nvSpPr>
        <p:spPr>
          <a:xfrm>
            <a:off x="3295650" y="3562350"/>
            <a:ext cx="190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A equipe perde tempo corrigindo preenchimentos.</a:t>
            </a:r>
            <a:endParaRPr lang="pt-BR" sz="1400" typeface="Inter"/>
          </a:p>
        </p:txBody>
      </p:sp>
      <p:sp>
        <p:nvSpPr>
          <p:cNvPr id="39" name="Shape 39"/>
          <p:cNvSpPr txBox="1"/>
          <p:nvPr/>
        </p:nvSpPr>
        <p:spPr>
          <a:xfrm>
            <a:off x="5638800" y="2724150"/>
            <a:ext cx="2266950" cy="10287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40" name="Shape 40"/>
          <p:cNvSpPr txBox="1"/>
          <p:nvPr/>
        </p:nvSpPr>
        <p:spPr>
          <a:xfrm>
            <a:off x="5810250" y="2933700"/>
            <a:ext cx="85725" cy="85725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41" name="Shape 41"/>
          <p:cNvSpPr txBox="1"/>
          <p:nvPr/>
        </p:nvSpPr>
        <p:spPr>
          <a:xfrm>
            <a:off x="6000750" y="28956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03</a:t>
            </a:r>
            <a:endParaRPr lang="pt-BR" sz="1000" typeface="Inter"/>
          </a:p>
        </p:txBody>
      </p:sp>
      <p:sp>
        <p:nvSpPr>
          <p:cNvPr id="42" name="Shape 42"/>
          <p:cNvSpPr txBox="1"/>
          <p:nvPr/>
        </p:nvSpPr>
        <p:spPr>
          <a:xfrm>
            <a:off x="5810250" y="32194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Demora para agir</a:t>
            </a:r>
            <a:endParaRPr lang="pt-BR" sz="1900" typeface="Inter"/>
          </a:p>
        </p:txBody>
      </p:sp>
      <p:sp>
        <p:nvSpPr>
          <p:cNvPr id="43" name="Shape 43"/>
          <p:cNvSpPr txBox="1"/>
          <p:nvPr/>
        </p:nvSpPr>
        <p:spPr>
          <a:xfrm>
            <a:off x="5810250" y="3562350"/>
            <a:ext cx="190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A resposta fica parada até ser organizada.</a:t>
            </a:r>
            <a:endParaRPr lang="pt-BR" sz="1400" typeface="Inter"/>
          </a:p>
        </p:txBody>
      </p:sp>
      <p:sp>
        <p:nvSpPr>
          <p:cNvPr id="44" name="Shape 44"/>
          <p:cNvSpPr txBox="1"/>
          <p:nvPr/>
        </p:nvSpPr>
        <p:spPr>
          <a:xfrm>
            <a:off x="609600" y="4000500"/>
            <a:ext cx="2266950" cy="10287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45" name="Shape 45"/>
          <p:cNvSpPr txBox="1"/>
          <p:nvPr/>
        </p:nvSpPr>
        <p:spPr>
          <a:xfrm>
            <a:off x="781050" y="4210050"/>
            <a:ext cx="85725" cy="85725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46" name="Shape 46"/>
          <p:cNvSpPr txBox="1"/>
          <p:nvPr/>
        </p:nvSpPr>
        <p:spPr>
          <a:xfrm>
            <a:off x="971550" y="41719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04</a:t>
            </a:r>
            <a:endParaRPr lang="pt-BR" sz="1000" typeface="Inter"/>
          </a:p>
        </p:txBody>
      </p:sp>
      <p:sp>
        <p:nvSpPr>
          <p:cNvPr id="47" name="Shape 47"/>
          <p:cNvSpPr txBox="1"/>
          <p:nvPr/>
        </p:nvSpPr>
        <p:spPr>
          <a:xfrm>
            <a:off x="781050" y="44958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Canais dispersos</a:t>
            </a:r>
            <a:endParaRPr lang="pt-BR" sz="1900" typeface="Inter"/>
          </a:p>
        </p:txBody>
      </p:sp>
      <p:sp>
        <p:nvSpPr>
          <p:cNvPr id="48" name="Shape 48"/>
          <p:cNvSpPr txBox="1"/>
          <p:nvPr/>
        </p:nvSpPr>
        <p:spPr>
          <a:xfrm>
            <a:off x="781050" y="4838700"/>
            <a:ext cx="190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Planilhas, mensagens e documentos espalham o contexto.</a:t>
            </a:r>
            <a:endParaRPr lang="pt-BR" sz="1400" typeface="Inter"/>
          </a:p>
        </p:txBody>
      </p:sp>
      <p:sp>
        <p:nvSpPr>
          <p:cNvPr id="49" name="Shape 49"/>
          <p:cNvSpPr txBox="1"/>
          <p:nvPr/>
        </p:nvSpPr>
        <p:spPr>
          <a:xfrm>
            <a:off x="3124200" y="4000500"/>
            <a:ext cx="2266950" cy="10287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50" name="Shape 50"/>
          <p:cNvSpPr txBox="1"/>
          <p:nvPr/>
        </p:nvSpPr>
        <p:spPr>
          <a:xfrm>
            <a:off x="3295650" y="4210050"/>
            <a:ext cx="85725" cy="85725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51" name="Shape 51"/>
          <p:cNvSpPr txBox="1"/>
          <p:nvPr/>
        </p:nvSpPr>
        <p:spPr>
          <a:xfrm>
            <a:off x="3486150" y="41719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05</a:t>
            </a:r>
            <a:endParaRPr lang="pt-BR" sz="1000" typeface="Inter"/>
          </a:p>
        </p:txBody>
      </p:sp>
      <p:sp>
        <p:nvSpPr>
          <p:cNvPr id="52" name="Shape 52"/>
          <p:cNvSpPr txBox="1"/>
          <p:nvPr/>
        </p:nvSpPr>
        <p:spPr>
          <a:xfrm>
            <a:off x="3295650" y="44958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Sem rastreabilidade</a:t>
            </a:r>
            <a:endParaRPr lang="pt-BR" sz="1900" typeface="Inter"/>
          </a:p>
        </p:txBody>
      </p:sp>
      <p:sp>
        <p:nvSpPr>
          <p:cNvPr id="53" name="Shape 53"/>
          <p:cNvSpPr txBox="1"/>
          <p:nvPr/>
        </p:nvSpPr>
        <p:spPr>
          <a:xfrm>
            <a:off x="3295650" y="4838700"/>
            <a:ext cx="190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É difícil saber quem respondeu e em qual etapa está.</a:t>
            </a:r>
            <a:endParaRPr lang="pt-BR" sz="1400" typeface="Inter"/>
          </a:p>
        </p:txBody>
      </p:sp>
      <p:sp>
        <p:nvSpPr>
          <p:cNvPr id="54" name="Shape 54"/>
          <p:cNvSpPr txBox="1"/>
          <p:nvPr/>
        </p:nvSpPr>
        <p:spPr>
          <a:xfrm>
            <a:off x="5638800" y="4000500"/>
            <a:ext cx="2266950" cy="10287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55" name="Shape 55"/>
          <p:cNvSpPr txBox="1"/>
          <p:nvPr/>
        </p:nvSpPr>
        <p:spPr>
          <a:xfrm>
            <a:off x="5810250" y="4210050"/>
            <a:ext cx="85725" cy="85725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56" name="Shape 56"/>
          <p:cNvSpPr txBox="1"/>
          <p:nvPr/>
        </p:nvSpPr>
        <p:spPr>
          <a:xfrm>
            <a:off x="6000750" y="41719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06</a:t>
            </a:r>
            <a:endParaRPr lang="pt-BR" sz="1000" typeface="Inter"/>
          </a:p>
        </p:txBody>
      </p:sp>
      <p:sp>
        <p:nvSpPr>
          <p:cNvPr id="57" name="Shape 57"/>
          <p:cNvSpPr txBox="1"/>
          <p:nvPr/>
        </p:nvSpPr>
        <p:spPr>
          <a:xfrm>
            <a:off x="5810250" y="44958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Dependência técnica</a:t>
            </a:r>
            <a:endParaRPr lang="pt-BR" sz="1900" typeface="Inter"/>
          </a:p>
        </p:txBody>
      </p:sp>
      <p:sp>
        <p:nvSpPr>
          <p:cNvPr id="58" name="Shape 58"/>
          <p:cNvSpPr txBox="1"/>
          <p:nvPr/>
        </p:nvSpPr>
        <p:spPr>
          <a:xfrm>
            <a:off x="5810250" y="4838700"/>
            <a:ext cx="190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Cada nova necessidade vira uma fila de desenvolvimento.</a:t>
            </a:r>
            <a:endParaRPr lang="pt-BR" sz="1400" typeface="Inter"/>
          </a:p>
        </p:txBody>
      </p:sp>
      <p:sp>
        <p:nvSpPr>
          <p:cNvPr id="59" name="Shape 59"/>
          <p:cNvSpPr txBox="1"/>
          <p:nvPr/>
        </p:nvSpPr>
        <p:spPr>
          <a:xfrm>
            <a:off x="609600" y="5429250"/>
            <a:ext cx="7239000" cy="523875"/>
          </a:xfrm>
          <a:prstGeom prst="roundRect">
            <a:avLst/>
          </a:prstGeom>
          <a:solidFill>
            <a:srgbClr val="172D38"/>
          </a:solidFill>
          <a:ln w="9525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60" name="Shape 60"/>
          <p:cNvSpPr txBox="1"/>
          <p:nvPr/>
        </p:nvSpPr>
        <p:spPr>
          <a:xfrm>
            <a:off x="838200" y="5581650"/>
            <a:ext cx="6762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i="1" typeface="Inter">
                <a:solidFill>
                  <a:srgbClr val="F6FAFC"/>
                </a:solidFill>
              </a:rPr>
              <a:t>“Quando cada necessidade exige um novo desenvolvimento, processos simples se tornam lentos e caros.”</a:t>
            </a:r>
            <a:endParaRPr lang="pt-BR" sz="1500" typeface="Inter"/>
          </a:p>
        </p:txBody>
      </p:sp>
      <p:sp>
        <p:nvSpPr>
          <p:cNvPr id="61" name="Shape 61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62" name="Shape 62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02</a:t>
            </a:r>
            <a:endParaRPr lang="pt-BR" sz="1000" typeface="Inte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Shape 6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64" name="Shape 64"/>
          <p:cNvSpPr txBox="1"/>
          <p:nvPr/>
        </p:nvSpPr>
        <p:spPr>
          <a:xfrm>
            <a:off x="609600" y="495300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A SOLUÇÃO</a:t>
            </a:r>
            <a:endParaRPr lang="pt-BR" sz="1100" typeface="Inter"/>
          </a:p>
        </p:txBody>
      </p:sp>
      <p:sp>
        <p:nvSpPr>
          <p:cNvPr id="65" name="Shape 65"/>
          <p:cNvSpPr txBox="1"/>
          <p:nvPr/>
        </p:nvSpPr>
        <p:spPr>
          <a:xfrm>
            <a:off x="609600" y="838200"/>
            <a:ext cx="68580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3400" b="1" typeface="Inter">
                <a:solidFill>
                  <a:srgbClr val="F6FAFC"/>
                </a:solidFill>
              </a:rPr>
              <a:t>Uma base configurável para cada processo.</a:t>
            </a:r>
            <a:endParaRPr lang="pt-BR" sz="3400" typeface="Inter"/>
          </a:p>
        </p:txBody>
      </p:sp>
      <p:sp>
        <p:nvSpPr>
          <p:cNvPr id="66" name="Shape 66"/>
          <p:cNvSpPr txBox="1"/>
          <p:nvPr/>
        </p:nvSpPr>
        <p:spPr>
          <a:xfrm>
            <a:off x="609600" y="16954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AAB6BD"/>
                </a:solidFill>
              </a:rPr>
              <a:t>H2O Nexo permite criar formulários personalizados, compartilhar por link e centralizar todas as respostas.</a:t>
            </a:r>
            <a:endParaRPr lang="pt-BR" sz="1700" typeface="Inter"/>
          </a:p>
        </p:txBody>
      </p:sp>
      <p:sp>
        <p:nvSpPr>
          <p:cNvPr id="67" name="Shape 67"/>
          <p:cNvSpPr txBox="1"/>
          <p:nvPr/>
        </p:nvSpPr>
        <p:spPr>
          <a:xfrm>
            <a:off x="609600" y="2647950"/>
            <a:ext cx="3371850" cy="1200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68" name="Shape 68"/>
          <p:cNvSpPr txBox="1"/>
          <p:nvPr/>
        </p:nvSpPr>
        <p:spPr>
          <a:xfrm>
            <a:off x="800100" y="2857500"/>
            <a:ext cx="3429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000" b="1" typeface="JetBrains Mono">
                <a:solidFill>
                  <a:srgbClr val="43B9F1"/>
                </a:solidFill>
              </a:rPr>
              <a:t>01</a:t>
            </a:r>
            <a:endParaRPr lang="pt-BR" sz="2000" typeface="JetBrains Mono"/>
          </a:p>
        </p:txBody>
      </p:sp>
      <p:sp>
        <p:nvSpPr>
          <p:cNvPr id="69" name="Shape 69"/>
          <p:cNvSpPr txBox="1"/>
          <p:nvPr/>
        </p:nvSpPr>
        <p:spPr>
          <a:xfrm>
            <a:off x="1276350" y="2857500"/>
            <a:ext cx="2381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Administradores</a:t>
            </a:r>
            <a:endParaRPr lang="pt-BR" sz="1900" typeface="Inter"/>
          </a:p>
        </p:txBody>
      </p:sp>
      <p:sp>
        <p:nvSpPr>
          <p:cNvPr id="70" name="Shape 70"/>
          <p:cNvSpPr txBox="1"/>
          <p:nvPr/>
        </p:nvSpPr>
        <p:spPr>
          <a:xfrm>
            <a:off x="1276350" y="3219450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Criam, configuram, publicam e acompanham formulários.</a:t>
            </a:r>
            <a:endParaRPr lang="pt-BR" sz="1400" typeface="Inter"/>
          </a:p>
        </p:txBody>
      </p:sp>
      <p:sp>
        <p:nvSpPr>
          <p:cNvPr id="71" name="Shape 71"/>
          <p:cNvSpPr txBox="1"/>
          <p:nvPr/>
        </p:nvSpPr>
        <p:spPr>
          <a:xfrm>
            <a:off x="4305300" y="2647950"/>
            <a:ext cx="3371850" cy="1200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72" name="Shape 72"/>
          <p:cNvSpPr txBox="1"/>
          <p:nvPr/>
        </p:nvSpPr>
        <p:spPr>
          <a:xfrm>
            <a:off x="4495800" y="2857500"/>
            <a:ext cx="3429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000" b="1" typeface="JetBrains Mono">
                <a:solidFill>
                  <a:srgbClr val="43B9F1"/>
                </a:solidFill>
              </a:rPr>
              <a:t>02</a:t>
            </a:r>
            <a:endParaRPr lang="pt-BR" sz="2000" typeface="JetBrains Mono"/>
          </a:p>
        </p:txBody>
      </p:sp>
      <p:sp>
        <p:nvSpPr>
          <p:cNvPr id="73" name="Shape 73"/>
          <p:cNvSpPr txBox="1"/>
          <p:nvPr/>
        </p:nvSpPr>
        <p:spPr>
          <a:xfrm>
            <a:off x="4972050" y="2857500"/>
            <a:ext cx="2381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Equipes internas</a:t>
            </a:r>
            <a:endParaRPr lang="pt-BR" sz="1900" typeface="Inter"/>
          </a:p>
        </p:txBody>
      </p:sp>
      <p:sp>
        <p:nvSpPr>
          <p:cNvPr id="74" name="Shape 74"/>
          <p:cNvSpPr txBox="1"/>
          <p:nvPr/>
        </p:nvSpPr>
        <p:spPr>
          <a:xfrm>
            <a:off x="4972050" y="3219450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Consultam respostas e utilizam os dados na operação.</a:t>
            </a:r>
            <a:endParaRPr lang="pt-BR" sz="1400" typeface="Inter"/>
          </a:p>
        </p:txBody>
      </p:sp>
      <p:sp>
        <p:nvSpPr>
          <p:cNvPr id="75" name="Shape 75"/>
          <p:cNvSpPr txBox="1"/>
          <p:nvPr/>
        </p:nvSpPr>
        <p:spPr>
          <a:xfrm>
            <a:off x="8001000" y="2647950"/>
            <a:ext cx="3371850" cy="1200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76" name="Shape 76"/>
          <p:cNvSpPr txBox="1"/>
          <p:nvPr/>
        </p:nvSpPr>
        <p:spPr>
          <a:xfrm>
            <a:off x="8191500" y="2857500"/>
            <a:ext cx="3429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000" b="1" typeface="JetBrains Mono">
                <a:solidFill>
                  <a:srgbClr val="43B9F1"/>
                </a:solidFill>
              </a:rPr>
              <a:t>03</a:t>
            </a:r>
            <a:endParaRPr lang="pt-BR" sz="2000" typeface="JetBrains Mono"/>
          </a:p>
        </p:txBody>
      </p:sp>
      <p:sp>
        <p:nvSpPr>
          <p:cNvPr id="77" name="Shape 77"/>
          <p:cNvSpPr txBox="1"/>
          <p:nvPr/>
        </p:nvSpPr>
        <p:spPr>
          <a:xfrm>
            <a:off x="8667750" y="2857500"/>
            <a:ext cx="2381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900" b="1" typeface="Inter">
                <a:solidFill>
                  <a:srgbClr val="F6FAFC"/>
                </a:solidFill>
              </a:rPr>
              <a:t>Clientes e parceiros</a:t>
            </a:r>
            <a:endParaRPr lang="pt-BR" sz="1900" typeface="Inter"/>
          </a:p>
        </p:txBody>
      </p:sp>
      <p:sp>
        <p:nvSpPr>
          <p:cNvPr id="78" name="Shape 78"/>
          <p:cNvSpPr txBox="1"/>
          <p:nvPr/>
        </p:nvSpPr>
        <p:spPr>
          <a:xfrm>
            <a:off x="8667750" y="3219450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Preenchem por um link simples, sem acessar o painel administrativo.</a:t>
            </a:r>
            <a:endParaRPr lang="pt-BR" sz="1400" typeface="Inter"/>
          </a:p>
        </p:txBody>
      </p:sp>
      <p:sp>
        <p:nvSpPr>
          <p:cNvPr id="79" name="Shape 79"/>
          <p:cNvSpPr txBox="1"/>
          <p:nvPr/>
        </p:nvSpPr>
        <p:spPr>
          <a:xfrm>
            <a:off x="609600" y="44577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CASOS DE USO</a:t>
            </a:r>
            <a:endParaRPr lang="pt-BR" sz="1100" typeface="Inter"/>
          </a:p>
        </p:txBody>
      </p:sp>
      <p:sp>
        <p:nvSpPr>
          <p:cNvPr id="80" name="Shape 80"/>
          <p:cNvSpPr txBox="1"/>
          <p:nvPr/>
        </p:nvSpPr>
        <p:spPr>
          <a:xfrm>
            <a:off x="609600" y="485775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Cadastro de clientes</a:t>
            </a:r>
            <a:endParaRPr lang="pt-BR" sz="1400" typeface="Inter"/>
          </a:p>
        </p:txBody>
      </p:sp>
      <p:sp>
        <p:nvSpPr>
          <p:cNvPr id="81" name="Line 81"/>
          <p:cNvSpPr/>
          <p:nvPr/>
        </p:nvSpPr>
        <p:spPr>
          <a:xfrm rot="0">
            <a:off x="609600" y="514350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82" name="Shape 82"/>
          <p:cNvSpPr txBox="1"/>
          <p:nvPr/>
        </p:nvSpPr>
        <p:spPr>
          <a:xfrm>
            <a:off x="3390900" y="485775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Pedido de venda</a:t>
            </a:r>
            <a:endParaRPr lang="pt-BR" sz="1400" typeface="Inter"/>
          </a:p>
        </p:txBody>
      </p:sp>
      <p:sp>
        <p:nvSpPr>
          <p:cNvPr id="83" name="Line 83"/>
          <p:cNvSpPr/>
          <p:nvPr/>
        </p:nvSpPr>
        <p:spPr>
          <a:xfrm rot="0">
            <a:off x="3390900" y="514350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84" name="Shape 84"/>
          <p:cNvSpPr txBox="1"/>
          <p:nvPr/>
        </p:nvSpPr>
        <p:spPr>
          <a:xfrm>
            <a:off x="6172200" y="485775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Solicitação de crédito</a:t>
            </a:r>
            <a:endParaRPr lang="pt-BR" sz="1400" typeface="Inter"/>
          </a:p>
        </p:txBody>
      </p:sp>
      <p:sp>
        <p:nvSpPr>
          <p:cNvPr id="85" name="Line 85"/>
          <p:cNvSpPr/>
          <p:nvPr/>
        </p:nvSpPr>
        <p:spPr>
          <a:xfrm rot="0">
            <a:off x="6172200" y="514350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86" name="Shape 86"/>
          <p:cNvSpPr txBox="1"/>
          <p:nvPr/>
        </p:nvSpPr>
        <p:spPr>
          <a:xfrm>
            <a:off x="8953500" y="485775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Pesquisa de satisfação</a:t>
            </a:r>
            <a:endParaRPr lang="pt-BR" sz="1400" typeface="Inter"/>
          </a:p>
        </p:txBody>
      </p:sp>
      <p:sp>
        <p:nvSpPr>
          <p:cNvPr id="87" name="Line 87"/>
          <p:cNvSpPr/>
          <p:nvPr/>
        </p:nvSpPr>
        <p:spPr>
          <a:xfrm rot="0">
            <a:off x="8953500" y="514350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88" name="Shape 88"/>
          <p:cNvSpPr txBox="1"/>
          <p:nvPr/>
        </p:nvSpPr>
        <p:spPr>
          <a:xfrm>
            <a:off x="609600" y="525780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Registro de visitas</a:t>
            </a:r>
            <a:endParaRPr lang="pt-BR" sz="1400" typeface="Inter"/>
          </a:p>
        </p:txBody>
      </p:sp>
      <p:sp>
        <p:nvSpPr>
          <p:cNvPr id="89" name="Line 89"/>
          <p:cNvSpPr/>
          <p:nvPr/>
        </p:nvSpPr>
        <p:spPr>
          <a:xfrm rot="0">
            <a:off x="609600" y="554355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90" name="Shape 90"/>
          <p:cNvSpPr txBox="1"/>
          <p:nvPr/>
        </p:nvSpPr>
        <p:spPr>
          <a:xfrm>
            <a:off x="3390900" y="525780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Inscrição em eventos</a:t>
            </a:r>
            <a:endParaRPr lang="pt-BR" sz="1400" typeface="Inter"/>
          </a:p>
        </p:txBody>
      </p:sp>
      <p:sp>
        <p:nvSpPr>
          <p:cNvPr id="91" name="Line 91"/>
          <p:cNvSpPr/>
          <p:nvPr/>
        </p:nvSpPr>
        <p:spPr>
          <a:xfrm rot="0">
            <a:off x="3390900" y="554355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92" name="Shape 92"/>
          <p:cNvSpPr txBox="1"/>
          <p:nvPr/>
        </p:nvSpPr>
        <p:spPr>
          <a:xfrm>
            <a:off x="6172200" y="525780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Solicitações internas</a:t>
            </a:r>
            <a:endParaRPr lang="pt-BR" sz="1400" typeface="Inter"/>
          </a:p>
        </p:txBody>
      </p:sp>
      <p:sp>
        <p:nvSpPr>
          <p:cNvPr id="93" name="Line 93"/>
          <p:cNvSpPr/>
          <p:nvPr/>
        </p:nvSpPr>
        <p:spPr>
          <a:xfrm rot="0">
            <a:off x="6172200" y="554355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94" name="Shape 94"/>
          <p:cNvSpPr txBox="1"/>
          <p:nvPr/>
        </p:nvSpPr>
        <p:spPr>
          <a:xfrm>
            <a:off x="8953500" y="525780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Levantamento de informações</a:t>
            </a:r>
            <a:endParaRPr lang="pt-BR" sz="1400" typeface="Inter"/>
          </a:p>
        </p:txBody>
      </p:sp>
      <p:sp>
        <p:nvSpPr>
          <p:cNvPr id="95" name="Line 95"/>
          <p:cNvSpPr/>
          <p:nvPr/>
        </p:nvSpPr>
        <p:spPr>
          <a:xfrm rot="0">
            <a:off x="8953500" y="5543550"/>
            <a:ext cx="1952625" cy="0"/>
          </a:xfrm>
          <a:prstGeom prst="line">
            <a:avLst/>
          </a:prstGeom>
          <a:ln w="9525">
            <a:solidFill>
              <a:srgbClr val="2A404C"/>
            </a:solidFill>
          </a:ln>
        </p:spPr>
      </p:sp>
      <p:sp>
        <p:nvSpPr>
          <p:cNvPr id="96" name="Shape 96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97" name="Shape 97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03</a:t>
            </a:r>
            <a:endParaRPr lang="pt-BR" sz="1000" typeface="Inte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" name="Shape 98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99" name="Shape 99"/>
          <p:cNvSpPr txBox="1"/>
          <p:nvPr/>
        </p:nvSpPr>
        <p:spPr>
          <a:xfrm>
            <a:off x="609600" y="495300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COMO FUNCIONA</a:t>
            </a:r>
            <a:endParaRPr lang="pt-BR" sz="1100" typeface="Inter"/>
          </a:p>
        </p:txBody>
      </p:sp>
      <p:sp>
        <p:nvSpPr>
          <p:cNvPr id="100" name="Shape 100"/>
          <p:cNvSpPr txBox="1"/>
          <p:nvPr/>
        </p:nvSpPr>
        <p:spPr>
          <a:xfrm>
            <a:off x="609600" y="838200"/>
            <a:ext cx="68580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3400" b="1" typeface="Inter">
                <a:solidFill>
                  <a:srgbClr val="F6FAFC"/>
                </a:solidFill>
              </a:rPr>
              <a:t>Um formulário. Diversas possibilidades.</a:t>
            </a:r>
            <a:endParaRPr lang="pt-BR" sz="3400" typeface="Inter"/>
          </a:p>
        </p:txBody>
      </p:sp>
      <p:sp>
        <p:nvSpPr>
          <p:cNvPr id="101" name="Shape 101"/>
          <p:cNvSpPr txBox="1"/>
          <p:nvPr/>
        </p:nvSpPr>
        <p:spPr>
          <a:xfrm>
            <a:off x="609600" y="16954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AAB6BD"/>
                </a:solidFill>
              </a:rPr>
              <a:t>A mesma base configurável acompanha a necessidade da empresa, sem criar uma nova aplicação para cada processo.</a:t>
            </a:r>
            <a:endParaRPr lang="pt-BR" sz="1700" typeface="Inter"/>
          </a:p>
        </p:txBody>
      </p:sp>
      <p:sp>
        <p:nvSpPr>
          <p:cNvPr id="102" name="Shape 102"/>
          <p:cNvSpPr txBox="1"/>
          <p:nvPr/>
        </p:nvSpPr>
        <p:spPr>
          <a:xfrm>
            <a:off x="685800" y="2838450"/>
            <a:ext cx="1428750" cy="1581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03" name="Shape 103"/>
          <p:cNvSpPr txBox="1"/>
          <p:nvPr/>
        </p:nvSpPr>
        <p:spPr>
          <a:xfrm>
            <a:off x="857250" y="30289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JetBrains Mono">
                <a:solidFill>
                  <a:srgbClr val="43B9F1"/>
                </a:solidFill>
              </a:rPr>
              <a:t>01</a:t>
            </a:r>
            <a:endParaRPr lang="pt-BR" sz="1200" typeface="JetBrains Mono"/>
          </a:p>
        </p:txBody>
      </p:sp>
      <p:sp>
        <p:nvSpPr>
          <p:cNvPr id="104" name="Shape 104"/>
          <p:cNvSpPr txBox="1"/>
          <p:nvPr/>
        </p:nvSpPr>
        <p:spPr>
          <a:xfrm>
            <a:off x="857250" y="34290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b="1" typeface="Inter">
                <a:solidFill>
                  <a:srgbClr val="F6FAFC"/>
                </a:solidFill>
              </a:rPr>
              <a:t>Criar</a:t>
            </a:r>
            <a:endParaRPr lang="pt-BR" sz="1800" typeface="Inter"/>
          </a:p>
        </p:txBody>
      </p:sp>
      <p:sp>
        <p:nvSpPr>
          <p:cNvPr id="105" name="Shape 105"/>
          <p:cNvSpPr txBox="1"/>
          <p:nvPr/>
        </p:nvSpPr>
        <p:spPr>
          <a:xfrm>
            <a:off x="857250" y="38481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AAB6BD"/>
                </a:solidFill>
              </a:rPr>
              <a:t>Comece com um modelo ou estrutura vazia.</a:t>
            </a:r>
            <a:endParaRPr lang="pt-BR" sz="1300" typeface="Inter"/>
          </a:p>
        </p:txBody>
      </p:sp>
      <p:sp>
        <p:nvSpPr>
          <p:cNvPr id="106" name="Line 106"/>
          <p:cNvSpPr/>
          <p:nvPr/>
        </p:nvSpPr>
        <p:spPr>
          <a:xfrm rot="0">
            <a:off x="2114550" y="3619500"/>
            <a:ext cx="381000" cy="0"/>
          </a:xfrm>
          <a:prstGeom prst="line">
            <a:avLst/>
          </a:prstGeom>
          <a:ln w="19050">
            <a:solidFill>
              <a:srgbClr val="43B9F1"/>
            </a:solidFill>
            <a:tailEnd w="sm" len="sm" type="triangle"/>
          </a:ln>
        </p:spPr>
      </p:sp>
      <p:sp>
        <p:nvSpPr>
          <p:cNvPr id="107" name="Shape 107"/>
          <p:cNvSpPr txBox="1"/>
          <p:nvPr/>
        </p:nvSpPr>
        <p:spPr>
          <a:xfrm>
            <a:off x="2533650" y="2838450"/>
            <a:ext cx="1428750" cy="1581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08" name="Shape 108"/>
          <p:cNvSpPr txBox="1"/>
          <p:nvPr/>
        </p:nvSpPr>
        <p:spPr>
          <a:xfrm>
            <a:off x="2705100" y="30289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JetBrains Mono">
                <a:solidFill>
                  <a:srgbClr val="43B9F1"/>
                </a:solidFill>
              </a:rPr>
              <a:t>02</a:t>
            </a:r>
            <a:endParaRPr lang="pt-BR" sz="1200" typeface="JetBrains Mono"/>
          </a:p>
        </p:txBody>
      </p:sp>
      <p:sp>
        <p:nvSpPr>
          <p:cNvPr id="109" name="Shape 109"/>
          <p:cNvSpPr txBox="1"/>
          <p:nvPr/>
        </p:nvSpPr>
        <p:spPr>
          <a:xfrm>
            <a:off x="2705100" y="34290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b="1" typeface="Inter">
                <a:solidFill>
                  <a:srgbClr val="F6FAFC"/>
                </a:solidFill>
              </a:rPr>
              <a:t>Personalizar</a:t>
            </a:r>
            <a:endParaRPr lang="pt-BR" sz="1800" typeface="Inter"/>
          </a:p>
        </p:txBody>
      </p:sp>
      <p:sp>
        <p:nvSpPr>
          <p:cNvPr id="110" name="Shape 110"/>
          <p:cNvSpPr txBox="1"/>
          <p:nvPr/>
        </p:nvSpPr>
        <p:spPr>
          <a:xfrm>
            <a:off x="2705100" y="38481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AAB6BD"/>
                </a:solidFill>
              </a:rPr>
              <a:t>Adapte campos, marca e mensagens.</a:t>
            </a:r>
            <a:endParaRPr lang="pt-BR" sz="1300" typeface="Inter"/>
          </a:p>
        </p:txBody>
      </p:sp>
      <p:sp>
        <p:nvSpPr>
          <p:cNvPr id="111" name="Line 111"/>
          <p:cNvSpPr/>
          <p:nvPr/>
        </p:nvSpPr>
        <p:spPr>
          <a:xfrm rot="0">
            <a:off x="3962400" y="3619500"/>
            <a:ext cx="381000" cy="0"/>
          </a:xfrm>
          <a:prstGeom prst="line">
            <a:avLst/>
          </a:prstGeom>
          <a:ln w="19050">
            <a:solidFill>
              <a:srgbClr val="43B9F1"/>
            </a:solidFill>
            <a:tailEnd w="sm" len="sm" type="triangle"/>
          </a:ln>
        </p:spPr>
      </p:sp>
      <p:sp>
        <p:nvSpPr>
          <p:cNvPr id="112" name="Shape 112"/>
          <p:cNvSpPr txBox="1"/>
          <p:nvPr/>
        </p:nvSpPr>
        <p:spPr>
          <a:xfrm>
            <a:off x="4381500" y="2838450"/>
            <a:ext cx="1428750" cy="1581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13" name="Shape 113"/>
          <p:cNvSpPr txBox="1"/>
          <p:nvPr/>
        </p:nvSpPr>
        <p:spPr>
          <a:xfrm>
            <a:off x="4552950" y="30289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JetBrains Mono">
                <a:solidFill>
                  <a:srgbClr val="43B9F1"/>
                </a:solidFill>
              </a:rPr>
              <a:t>03</a:t>
            </a:r>
            <a:endParaRPr lang="pt-BR" sz="1200" typeface="JetBrains Mono"/>
          </a:p>
        </p:txBody>
      </p:sp>
      <p:sp>
        <p:nvSpPr>
          <p:cNvPr id="114" name="Shape 114"/>
          <p:cNvSpPr txBox="1"/>
          <p:nvPr/>
        </p:nvSpPr>
        <p:spPr>
          <a:xfrm>
            <a:off x="4552950" y="34290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b="1" typeface="Inter">
                <a:solidFill>
                  <a:srgbClr val="F6FAFC"/>
                </a:solidFill>
              </a:rPr>
              <a:t>Publicar</a:t>
            </a:r>
            <a:endParaRPr lang="pt-BR" sz="1800" typeface="Inter"/>
          </a:p>
        </p:txBody>
      </p:sp>
      <p:sp>
        <p:nvSpPr>
          <p:cNvPr id="115" name="Shape 115"/>
          <p:cNvSpPr txBox="1"/>
          <p:nvPr/>
        </p:nvSpPr>
        <p:spPr>
          <a:xfrm>
            <a:off x="4552950" y="38481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AAB6BD"/>
                </a:solidFill>
              </a:rPr>
              <a:t>Deixe o formulário pronto.</a:t>
            </a:r>
            <a:endParaRPr lang="pt-BR" sz="1300" typeface="Inter"/>
          </a:p>
        </p:txBody>
      </p:sp>
      <p:sp>
        <p:nvSpPr>
          <p:cNvPr id="116" name="Line 116"/>
          <p:cNvSpPr/>
          <p:nvPr/>
        </p:nvSpPr>
        <p:spPr>
          <a:xfrm rot="0">
            <a:off x="5810250" y="3619500"/>
            <a:ext cx="381000" cy="0"/>
          </a:xfrm>
          <a:prstGeom prst="line">
            <a:avLst/>
          </a:prstGeom>
          <a:ln w="19050">
            <a:solidFill>
              <a:srgbClr val="43B9F1"/>
            </a:solidFill>
            <a:tailEnd w="sm" len="sm" type="triangle"/>
          </a:ln>
        </p:spPr>
      </p:sp>
      <p:sp>
        <p:nvSpPr>
          <p:cNvPr id="117" name="Shape 117"/>
          <p:cNvSpPr txBox="1"/>
          <p:nvPr/>
        </p:nvSpPr>
        <p:spPr>
          <a:xfrm>
            <a:off x="6229350" y="2838450"/>
            <a:ext cx="1428750" cy="1581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18" name="Shape 118"/>
          <p:cNvSpPr txBox="1"/>
          <p:nvPr/>
        </p:nvSpPr>
        <p:spPr>
          <a:xfrm>
            <a:off x="6400800" y="30289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JetBrains Mono">
                <a:solidFill>
                  <a:srgbClr val="43B9F1"/>
                </a:solidFill>
              </a:rPr>
              <a:t>04</a:t>
            </a:r>
            <a:endParaRPr lang="pt-BR" sz="1200" typeface="JetBrains Mono"/>
          </a:p>
        </p:txBody>
      </p:sp>
      <p:sp>
        <p:nvSpPr>
          <p:cNvPr id="119" name="Shape 119"/>
          <p:cNvSpPr txBox="1"/>
          <p:nvPr/>
        </p:nvSpPr>
        <p:spPr>
          <a:xfrm>
            <a:off x="6400800" y="34290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b="1" typeface="Inter">
                <a:solidFill>
                  <a:srgbClr val="F6FAFC"/>
                </a:solidFill>
              </a:rPr>
              <a:t>Compartilhar</a:t>
            </a:r>
            <a:endParaRPr lang="pt-BR" sz="1800" typeface="Inter"/>
          </a:p>
        </p:txBody>
      </p:sp>
      <p:sp>
        <p:nvSpPr>
          <p:cNvPr id="120" name="Shape 120"/>
          <p:cNvSpPr txBox="1"/>
          <p:nvPr/>
        </p:nvSpPr>
        <p:spPr>
          <a:xfrm>
            <a:off x="6400800" y="38481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AAB6BD"/>
                </a:solidFill>
              </a:rPr>
              <a:t>Envie um link simples.</a:t>
            </a:r>
            <a:endParaRPr lang="pt-BR" sz="1300" typeface="Inter"/>
          </a:p>
        </p:txBody>
      </p:sp>
      <p:sp>
        <p:nvSpPr>
          <p:cNvPr id="121" name="Line 121"/>
          <p:cNvSpPr/>
          <p:nvPr/>
        </p:nvSpPr>
        <p:spPr>
          <a:xfrm rot="0">
            <a:off x="7658100" y="3619500"/>
            <a:ext cx="381000" cy="0"/>
          </a:xfrm>
          <a:prstGeom prst="line">
            <a:avLst/>
          </a:prstGeom>
          <a:ln w="19050">
            <a:solidFill>
              <a:srgbClr val="43B9F1"/>
            </a:solidFill>
            <a:tailEnd w="sm" len="sm" type="triangle"/>
          </a:ln>
        </p:spPr>
      </p:sp>
      <p:sp>
        <p:nvSpPr>
          <p:cNvPr id="122" name="Shape 122"/>
          <p:cNvSpPr txBox="1"/>
          <p:nvPr/>
        </p:nvSpPr>
        <p:spPr>
          <a:xfrm>
            <a:off x="8077200" y="2838450"/>
            <a:ext cx="1428750" cy="1581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23" name="Shape 123"/>
          <p:cNvSpPr txBox="1"/>
          <p:nvPr/>
        </p:nvSpPr>
        <p:spPr>
          <a:xfrm>
            <a:off x="8248650" y="30289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JetBrains Mono">
                <a:solidFill>
                  <a:srgbClr val="43B9F1"/>
                </a:solidFill>
              </a:rPr>
              <a:t>05</a:t>
            </a:r>
            <a:endParaRPr lang="pt-BR" sz="1200" typeface="JetBrains Mono"/>
          </a:p>
        </p:txBody>
      </p:sp>
      <p:sp>
        <p:nvSpPr>
          <p:cNvPr id="124" name="Shape 124"/>
          <p:cNvSpPr txBox="1"/>
          <p:nvPr/>
        </p:nvSpPr>
        <p:spPr>
          <a:xfrm>
            <a:off x="8248650" y="34290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b="1" typeface="Inter">
                <a:solidFill>
                  <a:srgbClr val="F6FAFC"/>
                </a:solidFill>
              </a:rPr>
              <a:t>Responder</a:t>
            </a:r>
            <a:endParaRPr lang="pt-BR" sz="1800" typeface="Inter"/>
          </a:p>
        </p:txBody>
      </p:sp>
      <p:sp>
        <p:nvSpPr>
          <p:cNvPr id="125" name="Shape 125"/>
          <p:cNvSpPr txBox="1"/>
          <p:nvPr/>
        </p:nvSpPr>
        <p:spPr>
          <a:xfrm>
            <a:off x="8248650" y="38481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AAB6BD"/>
                </a:solidFill>
              </a:rPr>
              <a:t>Receba dados completos.</a:t>
            </a:r>
            <a:endParaRPr lang="pt-BR" sz="1300" typeface="Inter"/>
          </a:p>
        </p:txBody>
      </p:sp>
      <p:sp>
        <p:nvSpPr>
          <p:cNvPr id="126" name="Line 126"/>
          <p:cNvSpPr/>
          <p:nvPr/>
        </p:nvSpPr>
        <p:spPr>
          <a:xfrm rot="0">
            <a:off x="9505950" y="3619500"/>
            <a:ext cx="381000" cy="0"/>
          </a:xfrm>
          <a:prstGeom prst="line">
            <a:avLst/>
          </a:prstGeom>
          <a:ln w="19050">
            <a:solidFill>
              <a:srgbClr val="43B9F1"/>
            </a:solidFill>
            <a:tailEnd w="sm" len="sm" type="triangle"/>
          </a:ln>
        </p:spPr>
      </p:sp>
      <p:sp>
        <p:nvSpPr>
          <p:cNvPr id="127" name="Shape 127"/>
          <p:cNvSpPr txBox="1"/>
          <p:nvPr/>
        </p:nvSpPr>
        <p:spPr>
          <a:xfrm>
            <a:off x="9925050" y="2838450"/>
            <a:ext cx="1428750" cy="15811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28" name="Shape 128"/>
          <p:cNvSpPr txBox="1"/>
          <p:nvPr/>
        </p:nvSpPr>
        <p:spPr>
          <a:xfrm>
            <a:off x="10096500" y="30289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JetBrains Mono">
                <a:solidFill>
                  <a:srgbClr val="43B9F1"/>
                </a:solidFill>
              </a:rPr>
              <a:t>06</a:t>
            </a:r>
            <a:endParaRPr lang="pt-BR" sz="1200" typeface="JetBrains Mono"/>
          </a:p>
        </p:txBody>
      </p:sp>
      <p:sp>
        <p:nvSpPr>
          <p:cNvPr id="129" name="Shape 129"/>
          <p:cNvSpPr txBox="1"/>
          <p:nvPr/>
        </p:nvSpPr>
        <p:spPr>
          <a:xfrm>
            <a:off x="10096500" y="34290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b="1" typeface="Inter">
                <a:solidFill>
                  <a:srgbClr val="F6FAFC"/>
                </a:solidFill>
              </a:rPr>
              <a:t>Acompanhar</a:t>
            </a:r>
            <a:endParaRPr lang="pt-BR" sz="1800" typeface="Inter"/>
          </a:p>
        </p:txBody>
      </p:sp>
      <p:sp>
        <p:nvSpPr>
          <p:cNvPr id="130" name="Shape 130"/>
          <p:cNvSpPr txBox="1"/>
          <p:nvPr/>
        </p:nvSpPr>
        <p:spPr>
          <a:xfrm>
            <a:off x="10096500" y="38481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AAB6BD"/>
                </a:solidFill>
              </a:rPr>
              <a:t>Transforme resposta em ação.</a:t>
            </a:r>
            <a:endParaRPr lang="pt-BR" sz="1300" typeface="Inter"/>
          </a:p>
        </p:txBody>
      </p:sp>
      <p:sp>
        <p:nvSpPr>
          <p:cNvPr id="131" name="Shape 131"/>
          <p:cNvSpPr txBox="1"/>
          <p:nvPr/>
        </p:nvSpPr>
        <p:spPr>
          <a:xfrm>
            <a:off x="609600" y="523875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43B9F1"/>
                </a:solidFill>
              </a:rPr>
              <a:t>Do dado coletado ao próximo passo do negócio.</a:t>
            </a:r>
            <a:endParaRPr lang="pt-BR" sz="1800" typeface="Inter"/>
          </a:p>
        </p:txBody>
      </p:sp>
      <p:sp>
        <p:nvSpPr>
          <p:cNvPr id="132" name="Shape 132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133" name="Shape 133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04</a:t>
            </a:r>
            <a:endParaRPr lang="pt-BR" sz="1000" typeface="Inte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4" name="Shape 134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35" name="Shape 135"/>
          <p:cNvSpPr txBox="1"/>
          <p:nvPr/>
        </p:nvSpPr>
        <p:spPr>
          <a:xfrm>
            <a:off x="609600" y="495300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PRIMEIROS CASOS DE USO</a:t>
            </a:r>
            <a:endParaRPr lang="pt-BR" sz="1100" typeface="Inter"/>
          </a:p>
        </p:txBody>
      </p:sp>
      <p:sp>
        <p:nvSpPr>
          <p:cNvPr id="136" name="Shape 136"/>
          <p:cNvSpPr txBox="1"/>
          <p:nvPr/>
        </p:nvSpPr>
        <p:spPr>
          <a:xfrm>
            <a:off x="609600" y="838200"/>
            <a:ext cx="68580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3400" b="1" typeface="Inter">
                <a:solidFill>
                  <a:srgbClr val="F6FAFC"/>
                </a:solidFill>
              </a:rPr>
              <a:t>Duas necessidades. A mesma plataforma.</a:t>
            </a:r>
            <a:endParaRPr lang="pt-BR" sz="3400" typeface="Inter"/>
          </a:p>
        </p:txBody>
      </p:sp>
      <p:sp>
        <p:nvSpPr>
          <p:cNvPr id="137" name="Shape 137"/>
          <p:cNvSpPr txBox="1"/>
          <p:nvPr/>
        </p:nvSpPr>
        <p:spPr>
          <a:xfrm>
            <a:off x="609600" y="16954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AAB6BD"/>
                </a:solidFill>
              </a:rPr>
              <a:t>Para demonstrar flexibilidade, o mesmo administrador cria formulários para cadastro de clientes e pedido de venda.</a:t>
            </a:r>
            <a:endParaRPr lang="pt-BR" sz="1700" typeface="Inter"/>
          </a:p>
        </p:txBody>
      </p:sp>
      <p:sp>
        <p:nvSpPr>
          <p:cNvPr id="138" name="Shape 138"/>
          <p:cNvSpPr txBox="1"/>
          <p:nvPr/>
        </p:nvSpPr>
        <p:spPr>
          <a:xfrm>
            <a:off x="609600" y="2647950"/>
            <a:ext cx="5181600" cy="28956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39" name="Shape 139"/>
          <p:cNvSpPr txBox="1"/>
          <p:nvPr/>
        </p:nvSpPr>
        <p:spPr>
          <a:xfrm>
            <a:off x="838200" y="285750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b="1" typeface="JetBrains Mono">
                <a:solidFill>
                  <a:srgbClr val="43B9F1"/>
                </a:solidFill>
              </a:rPr>
              <a:t>01</a:t>
            </a:r>
            <a:endParaRPr lang="pt-BR" sz="1400" typeface="JetBrains Mono"/>
          </a:p>
        </p:txBody>
      </p:sp>
      <p:sp>
        <p:nvSpPr>
          <p:cNvPr id="140" name="Shape 140"/>
          <p:cNvSpPr txBox="1"/>
          <p:nvPr/>
        </p:nvSpPr>
        <p:spPr>
          <a:xfrm>
            <a:off x="1352550" y="2838450"/>
            <a:ext cx="3714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300" b="1" typeface="Inter">
                <a:solidFill>
                  <a:srgbClr val="F6FAFC"/>
                </a:solidFill>
              </a:rPr>
              <a:t>Cadastro de clientes</a:t>
            </a:r>
            <a:endParaRPr lang="pt-BR" sz="2300" typeface="Inter"/>
          </a:p>
        </p:txBody>
      </p:sp>
      <p:sp>
        <p:nvSpPr>
          <p:cNvPr id="141" name="Shape 141"/>
          <p:cNvSpPr txBox="1"/>
          <p:nvPr/>
        </p:nvSpPr>
        <p:spPr>
          <a:xfrm>
            <a:off x="1352550" y="3238500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Dados essenciais para conhecer o cliente.</a:t>
            </a:r>
            <a:endParaRPr lang="pt-BR" sz="1400" typeface="Inter"/>
          </a:p>
        </p:txBody>
      </p:sp>
      <p:sp>
        <p:nvSpPr>
          <p:cNvPr id="142" name="Shape 142"/>
          <p:cNvSpPr txBox="1"/>
          <p:nvPr/>
        </p:nvSpPr>
        <p:spPr>
          <a:xfrm>
            <a:off x="838200" y="381000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CAMPOS DO FORMULÁRIO</a:t>
            </a:r>
            <a:endParaRPr lang="pt-BR" sz="1000" typeface="Inter"/>
          </a:p>
        </p:txBody>
      </p:sp>
      <p:sp>
        <p:nvSpPr>
          <p:cNvPr id="143" name="Shape 143"/>
          <p:cNvSpPr txBox="1"/>
          <p:nvPr/>
        </p:nvSpPr>
        <p:spPr>
          <a:xfrm>
            <a:off x="847725" y="4181475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44" name="Shape 144"/>
          <p:cNvSpPr txBox="1"/>
          <p:nvPr/>
        </p:nvSpPr>
        <p:spPr>
          <a:xfrm>
            <a:off x="1028700" y="4133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Nome ou razão social</a:t>
            </a:r>
            <a:endParaRPr lang="pt-BR" sz="1300" typeface="Inter"/>
          </a:p>
        </p:txBody>
      </p:sp>
      <p:sp>
        <p:nvSpPr>
          <p:cNvPr id="145" name="Shape 145"/>
          <p:cNvSpPr txBox="1"/>
          <p:nvPr/>
        </p:nvSpPr>
        <p:spPr>
          <a:xfrm>
            <a:off x="847725" y="4419600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46" name="Shape 146"/>
          <p:cNvSpPr txBox="1"/>
          <p:nvPr/>
        </p:nvSpPr>
        <p:spPr>
          <a:xfrm>
            <a:off x="1028700" y="437197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CPF ou CNPJ</a:t>
            </a:r>
            <a:endParaRPr lang="pt-BR" sz="1300" typeface="Inter"/>
          </a:p>
        </p:txBody>
      </p:sp>
      <p:sp>
        <p:nvSpPr>
          <p:cNvPr id="147" name="Shape 147"/>
          <p:cNvSpPr txBox="1"/>
          <p:nvPr/>
        </p:nvSpPr>
        <p:spPr>
          <a:xfrm>
            <a:off x="847725" y="4657725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48" name="Shape 148"/>
          <p:cNvSpPr txBox="1"/>
          <p:nvPr/>
        </p:nvSpPr>
        <p:spPr>
          <a:xfrm>
            <a:off x="1028700" y="46101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E-mail</a:t>
            </a:r>
            <a:endParaRPr lang="pt-BR" sz="1300" typeface="Inter"/>
          </a:p>
        </p:txBody>
      </p:sp>
      <p:sp>
        <p:nvSpPr>
          <p:cNvPr id="149" name="Shape 149"/>
          <p:cNvSpPr txBox="1"/>
          <p:nvPr/>
        </p:nvSpPr>
        <p:spPr>
          <a:xfrm>
            <a:off x="847725" y="4895850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50" name="Shape 150"/>
          <p:cNvSpPr txBox="1"/>
          <p:nvPr/>
        </p:nvSpPr>
        <p:spPr>
          <a:xfrm>
            <a:off x="1028700" y="484822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Telefone</a:t>
            </a:r>
            <a:endParaRPr lang="pt-BR" sz="1300" typeface="Inter"/>
          </a:p>
        </p:txBody>
      </p:sp>
      <p:sp>
        <p:nvSpPr>
          <p:cNvPr id="151" name="Shape 151"/>
          <p:cNvSpPr txBox="1"/>
          <p:nvPr/>
        </p:nvSpPr>
        <p:spPr>
          <a:xfrm>
            <a:off x="847725" y="5133975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52" name="Shape 152"/>
          <p:cNvSpPr txBox="1"/>
          <p:nvPr/>
        </p:nvSpPr>
        <p:spPr>
          <a:xfrm>
            <a:off x="1028700" y="50863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Cidade</a:t>
            </a:r>
            <a:endParaRPr lang="pt-BR" sz="1300" typeface="Inter"/>
          </a:p>
        </p:txBody>
      </p:sp>
      <p:sp>
        <p:nvSpPr>
          <p:cNvPr id="153" name="Shape 153"/>
          <p:cNvSpPr txBox="1"/>
          <p:nvPr/>
        </p:nvSpPr>
        <p:spPr>
          <a:xfrm>
            <a:off x="6248400" y="2647950"/>
            <a:ext cx="5181600" cy="28956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188BC2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54" name="Shape 154"/>
          <p:cNvSpPr txBox="1"/>
          <p:nvPr/>
        </p:nvSpPr>
        <p:spPr>
          <a:xfrm>
            <a:off x="6477000" y="285750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b="1" typeface="JetBrains Mono">
                <a:solidFill>
                  <a:srgbClr val="43B9F1"/>
                </a:solidFill>
              </a:rPr>
              <a:t>02</a:t>
            </a:r>
            <a:endParaRPr lang="pt-BR" sz="1400" typeface="JetBrains Mono"/>
          </a:p>
        </p:txBody>
      </p:sp>
      <p:sp>
        <p:nvSpPr>
          <p:cNvPr id="155" name="Shape 155"/>
          <p:cNvSpPr txBox="1"/>
          <p:nvPr/>
        </p:nvSpPr>
        <p:spPr>
          <a:xfrm>
            <a:off x="6991350" y="2838450"/>
            <a:ext cx="3714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300" b="1" typeface="Inter">
                <a:solidFill>
                  <a:srgbClr val="F6FAFC"/>
                </a:solidFill>
              </a:rPr>
              <a:t>Pedido de venda</a:t>
            </a:r>
            <a:endParaRPr lang="pt-BR" sz="2300" typeface="Inter"/>
          </a:p>
        </p:txBody>
      </p:sp>
      <p:sp>
        <p:nvSpPr>
          <p:cNvPr id="156" name="Shape 156"/>
          <p:cNvSpPr txBox="1"/>
          <p:nvPr/>
        </p:nvSpPr>
        <p:spPr>
          <a:xfrm>
            <a:off x="6991350" y="3238500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AAB6BD"/>
                </a:solidFill>
              </a:rPr>
              <a:t>Itens, quantidades e condições comerciais.</a:t>
            </a:r>
            <a:endParaRPr lang="pt-BR" sz="1400" typeface="Inter"/>
          </a:p>
        </p:txBody>
      </p:sp>
      <p:sp>
        <p:nvSpPr>
          <p:cNvPr id="157" name="Shape 157"/>
          <p:cNvSpPr txBox="1"/>
          <p:nvPr/>
        </p:nvSpPr>
        <p:spPr>
          <a:xfrm>
            <a:off x="6477000" y="381000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CAMPOS DO FORMULÁRIO</a:t>
            </a:r>
            <a:endParaRPr lang="pt-BR" sz="1000" typeface="Inter"/>
          </a:p>
        </p:txBody>
      </p:sp>
      <p:sp>
        <p:nvSpPr>
          <p:cNvPr id="158" name="Shape 158"/>
          <p:cNvSpPr txBox="1"/>
          <p:nvPr/>
        </p:nvSpPr>
        <p:spPr>
          <a:xfrm>
            <a:off x="6486525" y="4181475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59" name="Shape 159"/>
          <p:cNvSpPr txBox="1"/>
          <p:nvPr/>
        </p:nvSpPr>
        <p:spPr>
          <a:xfrm>
            <a:off x="6667500" y="41338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Cliente</a:t>
            </a:r>
            <a:endParaRPr lang="pt-BR" sz="1300" typeface="Inter"/>
          </a:p>
        </p:txBody>
      </p:sp>
      <p:sp>
        <p:nvSpPr>
          <p:cNvPr id="160" name="Shape 160"/>
          <p:cNvSpPr txBox="1"/>
          <p:nvPr/>
        </p:nvSpPr>
        <p:spPr>
          <a:xfrm>
            <a:off x="6486525" y="4419600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61" name="Shape 161"/>
          <p:cNvSpPr txBox="1"/>
          <p:nvPr/>
        </p:nvSpPr>
        <p:spPr>
          <a:xfrm>
            <a:off x="6667500" y="437197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Produto</a:t>
            </a:r>
            <a:endParaRPr lang="pt-BR" sz="1300" typeface="Inter"/>
          </a:p>
        </p:txBody>
      </p:sp>
      <p:sp>
        <p:nvSpPr>
          <p:cNvPr id="162" name="Shape 162"/>
          <p:cNvSpPr txBox="1"/>
          <p:nvPr/>
        </p:nvSpPr>
        <p:spPr>
          <a:xfrm>
            <a:off x="6486525" y="4657725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63" name="Shape 163"/>
          <p:cNvSpPr txBox="1"/>
          <p:nvPr/>
        </p:nvSpPr>
        <p:spPr>
          <a:xfrm>
            <a:off x="6667500" y="46101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Quantidade</a:t>
            </a:r>
            <a:endParaRPr lang="pt-BR" sz="1300" typeface="Inter"/>
          </a:p>
        </p:txBody>
      </p:sp>
      <p:sp>
        <p:nvSpPr>
          <p:cNvPr id="164" name="Shape 164"/>
          <p:cNvSpPr txBox="1"/>
          <p:nvPr/>
        </p:nvSpPr>
        <p:spPr>
          <a:xfrm>
            <a:off x="6486525" y="4895850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65" name="Shape 165"/>
          <p:cNvSpPr txBox="1"/>
          <p:nvPr/>
        </p:nvSpPr>
        <p:spPr>
          <a:xfrm>
            <a:off x="6667500" y="484822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Preço</a:t>
            </a:r>
            <a:endParaRPr lang="pt-BR" sz="1300" typeface="Inter"/>
          </a:p>
        </p:txBody>
      </p:sp>
      <p:sp>
        <p:nvSpPr>
          <p:cNvPr id="166" name="Shape 166"/>
          <p:cNvSpPr txBox="1"/>
          <p:nvPr/>
        </p:nvSpPr>
        <p:spPr>
          <a:xfrm>
            <a:off x="6486525" y="5133975"/>
            <a:ext cx="66675" cy="6667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67" name="Shape 167"/>
          <p:cNvSpPr txBox="1"/>
          <p:nvPr/>
        </p:nvSpPr>
        <p:spPr>
          <a:xfrm>
            <a:off x="6667500" y="50863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typeface="Inter">
                <a:solidFill>
                  <a:srgbClr val="F6FAFC"/>
                </a:solidFill>
              </a:rPr>
              <a:t>Condição de pagamento</a:t>
            </a:r>
            <a:endParaRPr lang="pt-BR" sz="1300" typeface="Inter"/>
          </a:p>
        </p:txBody>
      </p:sp>
      <p:sp>
        <p:nvSpPr>
          <p:cNvPr id="168" name="Shape 168"/>
          <p:cNvSpPr txBox="1"/>
          <p:nvPr/>
        </p:nvSpPr>
        <p:spPr>
          <a:xfrm>
            <a:off x="609600" y="59245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600" typeface="Inter">
                <a:solidFill>
                  <a:srgbClr val="43B9F1"/>
                </a:solidFill>
              </a:rPr>
              <a:t>Não é um formulário isolado. É uma base reutilizável para múltiplas necessidades.</a:t>
            </a:r>
            <a:endParaRPr lang="pt-BR" sz="1600" typeface="Inter"/>
          </a:p>
        </p:txBody>
      </p:sp>
      <p:sp>
        <p:nvSpPr>
          <p:cNvPr id="169" name="Shape 169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170" name="Shape 170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05</a:t>
            </a:r>
            <a:endParaRPr lang="pt-BR" sz="1000" typeface="Inte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1" name="Shape 17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72" name="Shape 172"/>
          <p:cNvSpPr txBox="1"/>
          <p:nvPr/>
        </p:nvSpPr>
        <p:spPr>
          <a:xfrm>
            <a:off x="609600" y="495300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EXPERIÊNCIA DEMONSTRÁVEL</a:t>
            </a:r>
            <a:endParaRPr lang="pt-BR" sz="1100" typeface="Inter"/>
          </a:p>
        </p:txBody>
      </p:sp>
      <p:sp>
        <p:nvSpPr>
          <p:cNvPr id="173" name="Shape 173"/>
          <p:cNvSpPr txBox="1"/>
          <p:nvPr/>
        </p:nvSpPr>
        <p:spPr>
          <a:xfrm>
            <a:off x="609600" y="838200"/>
            <a:ext cx="68580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3400" b="1" typeface="Inter">
                <a:solidFill>
                  <a:srgbClr val="F6FAFC"/>
                </a:solidFill>
              </a:rPr>
              <a:t>Experimente o H2O Nexo.</a:t>
            </a:r>
            <a:endParaRPr lang="pt-BR" sz="3400" typeface="Inter"/>
          </a:p>
        </p:txBody>
      </p:sp>
      <p:sp>
        <p:nvSpPr>
          <p:cNvPr id="174" name="Shape 174"/>
          <p:cNvSpPr txBox="1"/>
          <p:nvPr/>
        </p:nvSpPr>
        <p:spPr>
          <a:xfrm>
            <a:off x="609600" y="16954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AAB6BD"/>
                </a:solidFill>
              </a:rPr>
              <a:t>Um painel para criar, personalizar, publicar e acompanhar — com pré-visualização em tempo real.</a:t>
            </a:r>
            <a:endParaRPr lang="pt-BR" sz="1700" typeface="Inter"/>
          </a:p>
        </p:txBody>
      </p:sp>
      <p:sp>
        <p:nvSpPr>
          <p:cNvPr id="175" name="Shape 175"/>
          <p:cNvSpPr txBox="1"/>
          <p:nvPr/>
        </p:nvSpPr>
        <p:spPr>
          <a:xfrm>
            <a:off x="609600" y="2514600"/>
            <a:ext cx="6229350" cy="31432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28343B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76" name="Shape 176"/>
          <p:cNvSpPr txBox="1"/>
          <p:nvPr/>
        </p:nvSpPr>
        <p:spPr>
          <a:xfrm>
            <a:off x="857250" y="272415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WORKSPACE / CRIAR FORMULÁRIO</a:t>
            </a:r>
            <a:endParaRPr lang="pt-BR" sz="1000" typeface="Inter"/>
          </a:p>
        </p:txBody>
      </p:sp>
      <p:sp>
        <p:nvSpPr>
          <p:cNvPr id="177" name="Shape 177"/>
          <p:cNvSpPr txBox="1"/>
          <p:nvPr/>
        </p:nvSpPr>
        <p:spPr>
          <a:xfrm>
            <a:off x="857250" y="30099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200" b="1" typeface="Inter">
                <a:solidFill>
                  <a:srgbClr val="F6FAFC"/>
                </a:solidFill>
              </a:rPr>
              <a:t>Construtor</a:t>
            </a:r>
            <a:endParaRPr lang="pt-BR" sz="2200" typeface="Inter"/>
          </a:p>
        </p:txBody>
      </p:sp>
      <p:sp>
        <p:nvSpPr>
          <p:cNvPr id="178" name="Shape 178"/>
          <p:cNvSpPr txBox="1"/>
          <p:nvPr/>
        </p:nvSpPr>
        <p:spPr>
          <a:xfrm>
            <a:off x="4476750" y="2952750"/>
            <a:ext cx="1066800" cy="285750"/>
          </a:xfrm>
          <a:prstGeom prst="roundRect">
            <a:avLst/>
          </a:prstGeom>
          <a:solidFill>
            <a:srgbClr val="188BC2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79" name="Shape 179"/>
          <p:cNvSpPr txBox="1"/>
          <p:nvPr/>
        </p:nvSpPr>
        <p:spPr>
          <a:xfrm>
            <a:off x="4476750" y="3019425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200" b="1" typeface="Inter">
                <a:solidFill>
                  <a:srgbClr val="F6FAFC"/>
                </a:solidFill>
              </a:rPr>
              <a:t>Publicar</a:t>
            </a:r>
            <a:endParaRPr lang="pt-BR" sz="1200" typeface="Inter"/>
          </a:p>
        </p:txBody>
      </p:sp>
      <p:sp>
        <p:nvSpPr>
          <p:cNvPr id="180" name="Shape 180"/>
          <p:cNvSpPr txBox="1"/>
          <p:nvPr/>
        </p:nvSpPr>
        <p:spPr>
          <a:xfrm>
            <a:off x="857250" y="3600450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typeface="Inter">
                <a:solidFill>
                  <a:srgbClr val="AAB6BD"/>
                </a:solidFill>
              </a:rPr>
              <a:t>Nome do formulário</a:t>
            </a:r>
            <a:endParaRPr lang="pt-BR" sz="1100" typeface="Inter"/>
          </a:p>
        </p:txBody>
      </p:sp>
      <p:sp>
        <p:nvSpPr>
          <p:cNvPr id="181" name="Shape 181"/>
          <p:cNvSpPr txBox="1"/>
          <p:nvPr/>
        </p:nvSpPr>
        <p:spPr>
          <a:xfrm>
            <a:off x="857250" y="3848100"/>
            <a:ext cx="4857750" cy="361950"/>
          </a:xfrm>
          <a:prstGeom prst="roundRect">
            <a:avLst/>
          </a:prstGeom>
          <a:solidFill>
            <a:srgbClr val="0F1214"/>
          </a:solidFill>
          <a:ln w="9525">
            <a:solidFill>
              <a:srgbClr val="314049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82" name="Shape 182"/>
          <p:cNvSpPr txBox="1"/>
          <p:nvPr/>
        </p:nvSpPr>
        <p:spPr>
          <a:xfrm>
            <a:off x="1009650" y="394335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400" typeface="Inter">
                <a:solidFill>
                  <a:srgbClr val="F6FAFC"/>
                </a:solidFill>
              </a:rPr>
              <a:t>Cadastro de clientes</a:t>
            </a:r>
            <a:endParaRPr lang="pt-BR" sz="1400" typeface="Inter"/>
          </a:p>
        </p:txBody>
      </p:sp>
      <p:sp>
        <p:nvSpPr>
          <p:cNvPr id="183" name="Shape 183"/>
          <p:cNvSpPr txBox="1"/>
          <p:nvPr/>
        </p:nvSpPr>
        <p:spPr>
          <a:xfrm>
            <a:off x="857250" y="44386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CAMPOS  05</a:t>
            </a:r>
            <a:endParaRPr lang="pt-BR" sz="1000" typeface="Inter"/>
          </a:p>
        </p:txBody>
      </p:sp>
      <p:sp>
        <p:nvSpPr>
          <p:cNvPr id="184" name="Shape 184"/>
          <p:cNvSpPr txBox="1"/>
          <p:nvPr/>
        </p:nvSpPr>
        <p:spPr>
          <a:xfrm>
            <a:off x="857250" y="4705350"/>
            <a:ext cx="4857750" cy="228600"/>
          </a:xfrm>
          <a:prstGeom prst="roundRect">
            <a:avLst/>
          </a:prstGeom>
          <a:solidFill>
            <a:srgbClr val="1B2024"/>
          </a:solidFill>
          <a:ln w="9525">
            <a:solidFill>
              <a:srgbClr val="2B373E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85" name="Shape 185"/>
          <p:cNvSpPr txBox="1"/>
          <p:nvPr/>
        </p:nvSpPr>
        <p:spPr>
          <a:xfrm>
            <a:off x="990600" y="4752975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typeface="Inter">
                <a:solidFill>
                  <a:srgbClr val="F6FAFC"/>
                </a:solidFill>
              </a:rPr>
              <a:t>Nome ou razão social</a:t>
            </a:r>
            <a:endParaRPr lang="pt-BR" sz="1100" typeface="Inter"/>
          </a:p>
        </p:txBody>
      </p:sp>
      <p:sp>
        <p:nvSpPr>
          <p:cNvPr id="186" name="Shape 186"/>
          <p:cNvSpPr txBox="1"/>
          <p:nvPr/>
        </p:nvSpPr>
        <p:spPr>
          <a:xfrm>
            <a:off x="5410200" y="4752975"/>
            <a:ext cx="1714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43B9F1"/>
                </a:solidFill>
              </a:rPr>
              <a:t>↕</a:t>
            </a:r>
            <a:endParaRPr lang="pt-BR" sz="1100" typeface="Inter"/>
          </a:p>
        </p:txBody>
      </p:sp>
      <p:sp>
        <p:nvSpPr>
          <p:cNvPr id="187" name="Shape 187"/>
          <p:cNvSpPr txBox="1"/>
          <p:nvPr/>
        </p:nvSpPr>
        <p:spPr>
          <a:xfrm>
            <a:off x="857250" y="5000625"/>
            <a:ext cx="4857750" cy="228600"/>
          </a:xfrm>
          <a:prstGeom prst="roundRect">
            <a:avLst/>
          </a:prstGeom>
          <a:solidFill>
            <a:srgbClr val="1B2024"/>
          </a:solidFill>
          <a:ln w="9525">
            <a:solidFill>
              <a:srgbClr val="2B373E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88" name="Shape 188"/>
          <p:cNvSpPr txBox="1"/>
          <p:nvPr/>
        </p:nvSpPr>
        <p:spPr>
          <a:xfrm>
            <a:off x="990600" y="50482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typeface="Inter">
                <a:solidFill>
                  <a:srgbClr val="F6FAFC"/>
                </a:solidFill>
              </a:rPr>
              <a:t>CPF ou CNPJ</a:t>
            </a:r>
            <a:endParaRPr lang="pt-BR" sz="1100" typeface="Inter"/>
          </a:p>
        </p:txBody>
      </p:sp>
      <p:sp>
        <p:nvSpPr>
          <p:cNvPr id="189" name="Shape 189"/>
          <p:cNvSpPr txBox="1"/>
          <p:nvPr/>
        </p:nvSpPr>
        <p:spPr>
          <a:xfrm>
            <a:off x="5410200" y="5048250"/>
            <a:ext cx="1714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43B9F1"/>
                </a:solidFill>
              </a:rPr>
              <a:t>↕</a:t>
            </a:r>
            <a:endParaRPr lang="pt-BR" sz="1100" typeface="Inter"/>
          </a:p>
        </p:txBody>
      </p:sp>
      <p:sp>
        <p:nvSpPr>
          <p:cNvPr id="190" name="Shape 190"/>
          <p:cNvSpPr txBox="1"/>
          <p:nvPr/>
        </p:nvSpPr>
        <p:spPr>
          <a:xfrm>
            <a:off x="857250" y="5295900"/>
            <a:ext cx="4857750" cy="228600"/>
          </a:xfrm>
          <a:prstGeom prst="roundRect">
            <a:avLst/>
          </a:prstGeom>
          <a:solidFill>
            <a:srgbClr val="1B2024"/>
          </a:solidFill>
          <a:ln w="9525">
            <a:solidFill>
              <a:srgbClr val="2B373E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91" name="Shape 191"/>
          <p:cNvSpPr txBox="1"/>
          <p:nvPr/>
        </p:nvSpPr>
        <p:spPr>
          <a:xfrm>
            <a:off x="990600" y="5343525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typeface="Inter">
                <a:solidFill>
                  <a:srgbClr val="F6FAFC"/>
                </a:solidFill>
              </a:rPr>
              <a:t>E-mail</a:t>
            </a:r>
            <a:endParaRPr lang="pt-BR" sz="1100" typeface="Inter"/>
          </a:p>
        </p:txBody>
      </p:sp>
      <p:sp>
        <p:nvSpPr>
          <p:cNvPr id="192" name="Shape 192"/>
          <p:cNvSpPr txBox="1"/>
          <p:nvPr/>
        </p:nvSpPr>
        <p:spPr>
          <a:xfrm>
            <a:off x="5410200" y="5343525"/>
            <a:ext cx="1714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43B9F1"/>
                </a:solidFill>
              </a:rPr>
              <a:t>↕</a:t>
            </a:r>
            <a:endParaRPr lang="pt-BR" sz="1100" typeface="Inter"/>
          </a:p>
        </p:txBody>
      </p:sp>
      <p:sp>
        <p:nvSpPr>
          <p:cNvPr id="193" name="Shape 193"/>
          <p:cNvSpPr txBox="1"/>
          <p:nvPr/>
        </p:nvSpPr>
        <p:spPr>
          <a:xfrm>
            <a:off x="7239000" y="2514600"/>
            <a:ext cx="4343400" cy="3143250"/>
          </a:xfrm>
          <a:prstGeom prst="roundRect">
            <a:avLst/>
          </a:prstGeom>
          <a:solidFill>
            <a:srgbClr val="F5F8F9"/>
          </a:solidFill>
          <a:ln w="9525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94" name="Shape 194"/>
          <p:cNvSpPr txBox="1"/>
          <p:nvPr/>
        </p:nvSpPr>
        <p:spPr>
          <a:xfrm>
            <a:off x="7658100" y="2800350"/>
            <a:ext cx="3524250" cy="2571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5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195" name="Shape 195"/>
          <p:cNvSpPr txBox="1"/>
          <p:nvPr/>
        </p:nvSpPr>
        <p:spPr>
          <a:xfrm>
            <a:off x="7924800" y="304800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300" b="1" typeface="Inter">
                <a:solidFill>
                  <a:srgbClr val="213038"/>
                </a:solidFill>
              </a:rPr>
              <a:t>H₂O Nexo</a:t>
            </a:r>
            <a:endParaRPr lang="pt-BR" sz="1300" typeface="Inter"/>
          </a:p>
        </p:txBody>
      </p:sp>
      <p:sp>
        <p:nvSpPr>
          <p:cNvPr id="196" name="Shape 196"/>
          <p:cNvSpPr txBox="1"/>
          <p:nvPr/>
        </p:nvSpPr>
        <p:spPr>
          <a:xfrm>
            <a:off x="7924800" y="348615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2300" b="1" typeface="Inter">
                <a:solidFill>
                  <a:srgbClr val="213038"/>
                </a:solidFill>
              </a:rPr>
              <a:t>Cadastro de clientes</a:t>
            </a:r>
            <a:endParaRPr lang="pt-BR" sz="2300" typeface="Inter"/>
          </a:p>
        </p:txBody>
      </p:sp>
      <p:sp>
        <p:nvSpPr>
          <p:cNvPr id="197" name="Shape 197"/>
          <p:cNvSpPr txBox="1"/>
          <p:nvPr/>
        </p:nvSpPr>
        <p:spPr>
          <a:xfrm>
            <a:off x="7924800" y="3867150"/>
            <a:ext cx="2762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typeface="Inter">
                <a:solidFill>
                  <a:srgbClr val="718087"/>
                </a:solidFill>
              </a:rPr>
              <a:t>Preencha as informações abaixo para continuar.</a:t>
            </a:r>
            <a:endParaRPr lang="pt-BR" sz="1200" typeface="Inter"/>
          </a:p>
        </p:txBody>
      </p:sp>
      <p:sp>
        <p:nvSpPr>
          <p:cNvPr id="198" name="Shape 198"/>
          <p:cNvSpPr txBox="1"/>
          <p:nvPr/>
        </p:nvSpPr>
        <p:spPr>
          <a:xfrm>
            <a:off x="7924800" y="42862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typeface="Inter">
                <a:solidFill>
                  <a:srgbClr val="405158"/>
                </a:solidFill>
              </a:rPr>
              <a:t>Nome ou razão social</a:t>
            </a:r>
            <a:endParaRPr lang="pt-BR" sz="1000" typeface="Inter"/>
          </a:p>
        </p:txBody>
      </p:sp>
      <p:sp>
        <p:nvSpPr>
          <p:cNvPr id="199" name="Line 199"/>
          <p:cNvSpPr/>
          <p:nvPr/>
        </p:nvSpPr>
        <p:spPr>
          <a:xfrm rot="0">
            <a:off x="7924800" y="4457700"/>
            <a:ext cx="2952750" cy="0"/>
          </a:xfrm>
          <a:prstGeom prst="line">
            <a:avLst/>
          </a:prstGeom>
          <a:ln w="9525">
            <a:solidFill>
              <a:srgbClr val="D9E2E5"/>
            </a:solidFill>
          </a:ln>
        </p:spPr>
      </p:sp>
      <p:sp>
        <p:nvSpPr>
          <p:cNvPr id="200" name="Shape 200"/>
          <p:cNvSpPr txBox="1"/>
          <p:nvPr/>
        </p:nvSpPr>
        <p:spPr>
          <a:xfrm>
            <a:off x="7924800" y="4543425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typeface="Inter">
                <a:solidFill>
                  <a:srgbClr val="405158"/>
                </a:solidFill>
              </a:rPr>
              <a:t>CPF ou CNPJ</a:t>
            </a:r>
            <a:endParaRPr lang="pt-BR" sz="1000" typeface="Inter"/>
          </a:p>
        </p:txBody>
      </p:sp>
      <p:sp>
        <p:nvSpPr>
          <p:cNvPr id="201" name="Line 201"/>
          <p:cNvSpPr/>
          <p:nvPr/>
        </p:nvSpPr>
        <p:spPr>
          <a:xfrm rot="0">
            <a:off x="7924800" y="4714875"/>
            <a:ext cx="2952750" cy="0"/>
          </a:xfrm>
          <a:prstGeom prst="line">
            <a:avLst/>
          </a:prstGeom>
          <a:ln w="9525">
            <a:solidFill>
              <a:srgbClr val="D9E2E5"/>
            </a:solidFill>
          </a:ln>
        </p:spPr>
      </p:sp>
      <p:sp>
        <p:nvSpPr>
          <p:cNvPr id="202" name="Shape 202"/>
          <p:cNvSpPr txBox="1"/>
          <p:nvPr/>
        </p:nvSpPr>
        <p:spPr>
          <a:xfrm>
            <a:off x="7924800" y="48006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typeface="Inter">
                <a:solidFill>
                  <a:srgbClr val="405158"/>
                </a:solidFill>
              </a:rPr>
              <a:t>E-mail</a:t>
            </a:r>
            <a:endParaRPr lang="pt-BR" sz="1000" typeface="Inter"/>
          </a:p>
        </p:txBody>
      </p:sp>
      <p:sp>
        <p:nvSpPr>
          <p:cNvPr id="203" name="Line 203"/>
          <p:cNvSpPr/>
          <p:nvPr/>
        </p:nvSpPr>
        <p:spPr>
          <a:xfrm rot="0">
            <a:off x="7924800" y="4972050"/>
            <a:ext cx="2952750" cy="0"/>
          </a:xfrm>
          <a:prstGeom prst="line">
            <a:avLst/>
          </a:prstGeom>
          <a:ln w="9525">
            <a:solidFill>
              <a:srgbClr val="D9E2E5"/>
            </a:solidFill>
          </a:ln>
        </p:spPr>
      </p:sp>
      <p:sp>
        <p:nvSpPr>
          <p:cNvPr id="204" name="Shape 204"/>
          <p:cNvSpPr txBox="1"/>
          <p:nvPr/>
        </p:nvSpPr>
        <p:spPr>
          <a:xfrm>
            <a:off x="7924800" y="5067300"/>
            <a:ext cx="2952750" cy="219075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05" name="Shape 205"/>
          <p:cNvSpPr txBox="1"/>
          <p:nvPr/>
        </p:nvSpPr>
        <p:spPr>
          <a:xfrm>
            <a:off x="7924800" y="5105400"/>
            <a:ext cx="29527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000" b="1" typeface="Inter">
                <a:solidFill>
                  <a:srgbClr val="071016"/>
                </a:solidFill>
              </a:rPr>
              <a:t>Enviar formulário</a:t>
            </a:r>
            <a:endParaRPr lang="pt-BR" sz="1000" typeface="Inter"/>
          </a:p>
        </p:txBody>
      </p:sp>
      <p:sp>
        <p:nvSpPr>
          <p:cNvPr id="206" name="Shape 206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207" name="Shape 207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06</a:t>
            </a:r>
            <a:endParaRPr lang="pt-BR" sz="1000" typeface="Inte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8" name="Shape 208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09" name="Shape 209"/>
          <p:cNvSpPr txBox="1"/>
          <p:nvPr/>
        </p:nvSpPr>
        <p:spPr>
          <a:xfrm>
            <a:off x="609600" y="495300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VALOR PARA O NEGÓCIO</a:t>
            </a:r>
            <a:endParaRPr lang="pt-BR" sz="1100" typeface="Inter"/>
          </a:p>
        </p:txBody>
      </p:sp>
      <p:sp>
        <p:nvSpPr>
          <p:cNvPr id="210" name="Shape 210"/>
          <p:cNvSpPr txBox="1"/>
          <p:nvPr/>
        </p:nvSpPr>
        <p:spPr>
          <a:xfrm>
            <a:off x="609600" y="838200"/>
            <a:ext cx="68580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3400" b="1" typeface="Inter">
                <a:solidFill>
                  <a:srgbClr val="F6FAFC"/>
                </a:solidFill>
              </a:rPr>
              <a:t>Autonomia para criar. Agilidade para executar.</a:t>
            </a:r>
            <a:endParaRPr lang="pt-BR" sz="3400" typeface="Inter"/>
          </a:p>
        </p:txBody>
      </p:sp>
      <p:sp>
        <p:nvSpPr>
          <p:cNvPr id="211" name="Shape 211"/>
          <p:cNvSpPr txBox="1"/>
          <p:nvPr/>
        </p:nvSpPr>
        <p:spPr>
          <a:xfrm>
            <a:off x="609600" y="16954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AAB6BD"/>
                </a:solidFill>
              </a:rPr>
              <a:t>As equipes digitalizam processos sem depender da criação de uma nova ferramenta para cada necessidade.</a:t>
            </a:r>
            <a:endParaRPr lang="pt-BR" sz="1700" typeface="Inter"/>
          </a:p>
        </p:txBody>
      </p:sp>
      <p:sp>
        <p:nvSpPr>
          <p:cNvPr id="212" name="Shape 212"/>
          <p:cNvSpPr txBox="1"/>
          <p:nvPr/>
        </p:nvSpPr>
        <p:spPr>
          <a:xfrm>
            <a:off x="685800" y="272415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01</a:t>
            </a:r>
            <a:endParaRPr lang="pt-BR" sz="1100" typeface="JetBrains Mono"/>
          </a:p>
        </p:txBody>
      </p:sp>
      <p:sp>
        <p:nvSpPr>
          <p:cNvPr id="213" name="Shape 213"/>
          <p:cNvSpPr txBox="1"/>
          <p:nvPr/>
        </p:nvSpPr>
        <p:spPr>
          <a:xfrm>
            <a:off x="1114425" y="277177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14" name="Shape 214"/>
          <p:cNvSpPr txBox="1"/>
          <p:nvPr/>
        </p:nvSpPr>
        <p:spPr>
          <a:xfrm>
            <a:off x="1333500" y="27241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Criação rápida sem novo desenvolvimento</a:t>
            </a:r>
            <a:endParaRPr lang="pt-BR" sz="1500" typeface="Inter"/>
          </a:p>
        </p:txBody>
      </p:sp>
      <p:sp>
        <p:nvSpPr>
          <p:cNvPr id="215" name="Shape 215"/>
          <p:cNvSpPr txBox="1"/>
          <p:nvPr/>
        </p:nvSpPr>
        <p:spPr>
          <a:xfrm>
            <a:off x="5905500" y="272415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02</a:t>
            </a:r>
            <a:endParaRPr lang="pt-BR" sz="1100" typeface="JetBrains Mono"/>
          </a:p>
        </p:txBody>
      </p:sp>
      <p:sp>
        <p:nvSpPr>
          <p:cNvPr id="216" name="Shape 216"/>
          <p:cNvSpPr txBox="1"/>
          <p:nvPr/>
        </p:nvSpPr>
        <p:spPr>
          <a:xfrm>
            <a:off x="6334125" y="277177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17" name="Shape 217"/>
          <p:cNvSpPr txBox="1"/>
          <p:nvPr/>
        </p:nvSpPr>
        <p:spPr>
          <a:xfrm>
            <a:off x="6553200" y="27241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Dados completos e padronizados</a:t>
            </a:r>
            <a:endParaRPr lang="pt-BR" sz="1500" typeface="Inter"/>
          </a:p>
        </p:txBody>
      </p:sp>
      <p:sp>
        <p:nvSpPr>
          <p:cNvPr id="218" name="Shape 218"/>
          <p:cNvSpPr txBox="1"/>
          <p:nvPr/>
        </p:nvSpPr>
        <p:spPr>
          <a:xfrm>
            <a:off x="685800" y="32766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03</a:t>
            </a:r>
            <a:endParaRPr lang="pt-BR" sz="1100" typeface="JetBrains Mono"/>
          </a:p>
        </p:txBody>
      </p:sp>
      <p:sp>
        <p:nvSpPr>
          <p:cNvPr id="219" name="Shape 219"/>
          <p:cNvSpPr txBox="1"/>
          <p:nvPr/>
        </p:nvSpPr>
        <p:spPr>
          <a:xfrm>
            <a:off x="1114425" y="332422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20" name="Shape 220"/>
          <p:cNvSpPr txBox="1"/>
          <p:nvPr/>
        </p:nvSpPr>
        <p:spPr>
          <a:xfrm>
            <a:off x="1333500" y="32766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Menos erros e retrabalho</a:t>
            </a:r>
            <a:endParaRPr lang="pt-BR" sz="1500" typeface="Inter"/>
          </a:p>
        </p:txBody>
      </p:sp>
      <p:sp>
        <p:nvSpPr>
          <p:cNvPr id="221" name="Shape 221"/>
          <p:cNvSpPr txBox="1"/>
          <p:nvPr/>
        </p:nvSpPr>
        <p:spPr>
          <a:xfrm>
            <a:off x="5905500" y="32766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04</a:t>
            </a:r>
            <a:endParaRPr lang="pt-BR" sz="1100" typeface="JetBrains Mono"/>
          </a:p>
        </p:txBody>
      </p:sp>
      <p:sp>
        <p:nvSpPr>
          <p:cNvPr id="222" name="Shape 222"/>
          <p:cNvSpPr txBox="1"/>
          <p:nvPr/>
        </p:nvSpPr>
        <p:spPr>
          <a:xfrm>
            <a:off x="6334125" y="332422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23" name="Shape 223"/>
          <p:cNvSpPr txBox="1"/>
          <p:nvPr/>
        </p:nvSpPr>
        <p:spPr>
          <a:xfrm>
            <a:off x="6553200" y="32766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Respostas centralizadas</a:t>
            </a:r>
            <a:endParaRPr lang="pt-BR" sz="1500" typeface="Inter"/>
          </a:p>
        </p:txBody>
      </p:sp>
      <p:sp>
        <p:nvSpPr>
          <p:cNvPr id="224" name="Shape 224"/>
          <p:cNvSpPr txBox="1"/>
          <p:nvPr/>
        </p:nvSpPr>
        <p:spPr>
          <a:xfrm>
            <a:off x="685800" y="382905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05</a:t>
            </a:r>
            <a:endParaRPr lang="pt-BR" sz="1100" typeface="JetBrains Mono"/>
          </a:p>
        </p:txBody>
      </p:sp>
      <p:sp>
        <p:nvSpPr>
          <p:cNvPr id="225" name="Shape 225"/>
          <p:cNvSpPr txBox="1"/>
          <p:nvPr/>
        </p:nvSpPr>
        <p:spPr>
          <a:xfrm>
            <a:off x="1114425" y="387667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26" name="Shape 226"/>
          <p:cNvSpPr txBox="1"/>
          <p:nvPr/>
        </p:nvSpPr>
        <p:spPr>
          <a:xfrm>
            <a:off x="1333500" y="38290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Maior rastreabilidade</a:t>
            </a:r>
            <a:endParaRPr lang="pt-BR" sz="1500" typeface="Inter"/>
          </a:p>
        </p:txBody>
      </p:sp>
      <p:sp>
        <p:nvSpPr>
          <p:cNvPr id="227" name="Shape 227"/>
          <p:cNvSpPr txBox="1"/>
          <p:nvPr/>
        </p:nvSpPr>
        <p:spPr>
          <a:xfrm>
            <a:off x="5905500" y="382905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06</a:t>
            </a:r>
            <a:endParaRPr lang="pt-BR" sz="1100" typeface="JetBrains Mono"/>
          </a:p>
        </p:txBody>
      </p:sp>
      <p:sp>
        <p:nvSpPr>
          <p:cNvPr id="228" name="Shape 228"/>
          <p:cNvSpPr txBox="1"/>
          <p:nvPr/>
        </p:nvSpPr>
        <p:spPr>
          <a:xfrm>
            <a:off x="6334125" y="387667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29" name="Shape 229"/>
          <p:cNvSpPr txBox="1"/>
          <p:nvPr/>
        </p:nvSpPr>
        <p:spPr>
          <a:xfrm>
            <a:off x="6553200" y="38290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Adaptação a diferentes processos</a:t>
            </a:r>
            <a:endParaRPr lang="pt-BR" sz="1500" typeface="Inter"/>
          </a:p>
        </p:txBody>
      </p:sp>
      <p:sp>
        <p:nvSpPr>
          <p:cNvPr id="230" name="Shape 230"/>
          <p:cNvSpPr txBox="1"/>
          <p:nvPr/>
        </p:nvSpPr>
        <p:spPr>
          <a:xfrm>
            <a:off x="685800" y="43815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07</a:t>
            </a:r>
            <a:endParaRPr lang="pt-BR" sz="1100" typeface="JetBrains Mono"/>
          </a:p>
        </p:txBody>
      </p:sp>
      <p:sp>
        <p:nvSpPr>
          <p:cNvPr id="231" name="Shape 231"/>
          <p:cNvSpPr txBox="1"/>
          <p:nvPr/>
        </p:nvSpPr>
        <p:spPr>
          <a:xfrm>
            <a:off x="1114425" y="442912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32" name="Shape 232"/>
          <p:cNvSpPr txBox="1"/>
          <p:nvPr/>
        </p:nvSpPr>
        <p:spPr>
          <a:xfrm>
            <a:off x="1333500" y="43815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Reutilização em diferentes empresas</a:t>
            </a:r>
            <a:endParaRPr lang="pt-BR" sz="1500" typeface="Inter"/>
          </a:p>
        </p:txBody>
      </p:sp>
      <p:sp>
        <p:nvSpPr>
          <p:cNvPr id="233" name="Shape 233"/>
          <p:cNvSpPr txBox="1"/>
          <p:nvPr/>
        </p:nvSpPr>
        <p:spPr>
          <a:xfrm>
            <a:off x="5905500" y="4381500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JetBrains Mono">
                <a:solidFill>
                  <a:srgbClr val="43B9F1"/>
                </a:solidFill>
              </a:rPr>
              <a:t>08</a:t>
            </a:r>
            <a:endParaRPr lang="pt-BR" sz="1100" typeface="JetBrains Mono"/>
          </a:p>
        </p:txBody>
      </p:sp>
      <p:sp>
        <p:nvSpPr>
          <p:cNvPr id="234" name="Shape 234"/>
          <p:cNvSpPr txBox="1"/>
          <p:nvPr/>
        </p:nvSpPr>
        <p:spPr>
          <a:xfrm>
            <a:off x="6334125" y="4429125"/>
            <a:ext cx="85725" cy="85725"/>
          </a:xfrm>
          <a:prstGeom prst="roundRect">
            <a:avLst/>
          </a:prstGeom>
          <a:solidFill>
            <a:srgbClr val="76D6B0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35" name="Shape 235"/>
          <p:cNvSpPr txBox="1"/>
          <p:nvPr/>
        </p:nvSpPr>
        <p:spPr>
          <a:xfrm>
            <a:off x="6553200" y="43815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500" typeface="Inter">
                <a:solidFill>
                  <a:srgbClr val="F6FAFC"/>
                </a:solidFill>
              </a:rPr>
              <a:t>Redução do tempo entre a necessidade e a execução</a:t>
            </a:r>
            <a:endParaRPr lang="pt-BR" sz="1500" typeface="Inter"/>
          </a:p>
        </p:txBody>
      </p:sp>
      <p:sp>
        <p:nvSpPr>
          <p:cNvPr id="236" name="Shape 236"/>
          <p:cNvSpPr txBox="1"/>
          <p:nvPr/>
        </p:nvSpPr>
        <p:spPr>
          <a:xfrm>
            <a:off x="685800" y="5219700"/>
            <a:ext cx="10763250" cy="552450"/>
          </a:xfrm>
          <a:prstGeom prst="roundRect">
            <a:avLst/>
          </a:prstGeom>
          <a:solidFill>
            <a:srgbClr val="172D38"/>
          </a:solidFill>
          <a:ln w="9525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37" name="Shape 237"/>
          <p:cNvSpPr txBox="1"/>
          <p:nvPr/>
        </p:nvSpPr>
        <p:spPr>
          <a:xfrm>
            <a:off x="933450" y="5400675"/>
            <a:ext cx="10287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600" b="1" typeface="Inter">
                <a:solidFill>
                  <a:srgbClr val="F6FAFC"/>
                </a:solidFill>
              </a:rPr>
              <a:t>Ferramentas comuns coletam respostas. H2O Nexo permite transformar cada formulário em um processo de negócio.</a:t>
            </a:r>
            <a:endParaRPr lang="pt-BR" sz="1600" typeface="Inter"/>
          </a:p>
        </p:txBody>
      </p:sp>
      <p:sp>
        <p:nvSpPr>
          <p:cNvPr id="238" name="Shape 238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239" name="Shape 239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07</a:t>
            </a:r>
            <a:endParaRPr lang="pt-BR" sz="1000" typeface="Inte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0" name="Shape 24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41" name="Shape 241"/>
          <p:cNvSpPr txBox="1"/>
          <p:nvPr/>
        </p:nvSpPr>
        <p:spPr>
          <a:xfrm>
            <a:off x="609600" y="495300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100" b="1" typeface="Inter">
                <a:solidFill>
                  <a:srgbClr val="43B9F1"/>
                </a:solidFill>
              </a:rPr>
              <a:t>ECOSSISTEMA H2O</a:t>
            </a:r>
            <a:endParaRPr lang="pt-BR" sz="1100" typeface="Inter"/>
          </a:p>
        </p:txBody>
      </p:sp>
      <p:sp>
        <p:nvSpPr>
          <p:cNvPr id="242" name="Shape 242"/>
          <p:cNvSpPr txBox="1"/>
          <p:nvPr/>
        </p:nvSpPr>
        <p:spPr>
          <a:xfrm>
            <a:off x="609600" y="838200"/>
            <a:ext cx="68580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3400" b="1" typeface="Inter">
                <a:solidFill>
                  <a:srgbClr val="F6FAFC"/>
                </a:solidFill>
              </a:rPr>
              <a:t>Preparado para evoluir.</a:t>
            </a:r>
            <a:endParaRPr lang="pt-BR" sz="3400" typeface="Inter"/>
          </a:p>
        </p:txBody>
      </p:sp>
      <p:sp>
        <p:nvSpPr>
          <p:cNvPr id="243" name="Shape 243"/>
          <p:cNvSpPr txBox="1"/>
          <p:nvPr/>
        </p:nvSpPr>
        <p:spPr>
          <a:xfrm>
            <a:off x="609600" y="16954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AAB6BD"/>
                </a:solidFill>
              </a:rPr>
              <a:t>No MVP, as integrações são representadas por dados simulados e uma camada de serviços preparada para conexão futura.</a:t>
            </a:r>
            <a:endParaRPr lang="pt-BR" sz="1700" typeface="Inter"/>
          </a:p>
        </p:txBody>
      </p:sp>
      <p:sp>
        <p:nvSpPr>
          <p:cNvPr id="244" name="Line 244"/>
          <p:cNvSpPr/>
          <p:nvPr/>
        </p:nvSpPr>
        <p:spPr>
          <a:xfrm rot="0">
            <a:off x="2686050" y="4095750"/>
            <a:ext cx="6819900" cy="0"/>
          </a:xfrm>
          <a:prstGeom prst="line">
            <a:avLst/>
          </a:prstGeom>
          <a:ln w="9525">
            <a:solidFill>
              <a:srgbClr val="2E627A"/>
            </a:solidFill>
          </a:ln>
        </p:spPr>
      </p:sp>
      <p:sp>
        <p:nvSpPr>
          <p:cNvPr id="245" name="Shape 245"/>
          <p:cNvSpPr txBox="1"/>
          <p:nvPr/>
        </p:nvSpPr>
        <p:spPr>
          <a:xfrm>
            <a:off x="5105400" y="3200400"/>
            <a:ext cx="1981200" cy="1104900"/>
          </a:xfrm>
          <a:prstGeom prst="roundRect">
            <a:avLst/>
          </a:prstGeom>
          <a:solidFill>
            <a:srgbClr val="1A2D39"/>
          </a:solidFill>
          <a:ln w="19050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46" name="Shape 246"/>
          <p:cNvSpPr txBox="1"/>
          <p:nvPr/>
        </p:nvSpPr>
        <p:spPr>
          <a:xfrm>
            <a:off x="5105400" y="3429000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2400" b="1" typeface="JetBrains Mono">
                <a:solidFill>
                  <a:srgbClr val="43B9F1"/>
                </a:solidFill>
              </a:rPr>
              <a:t>H₂O</a:t>
            </a:r>
            <a:endParaRPr lang="pt-BR" sz="2400" typeface="JetBrains Mono"/>
          </a:p>
        </p:txBody>
      </p:sp>
      <p:sp>
        <p:nvSpPr>
          <p:cNvPr id="247" name="Shape 247"/>
          <p:cNvSpPr txBox="1"/>
          <p:nvPr/>
        </p:nvSpPr>
        <p:spPr>
          <a:xfrm>
            <a:off x="5105400" y="3743325"/>
            <a:ext cx="19812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800" b="1" typeface="Inter">
                <a:solidFill>
                  <a:srgbClr val="F6FAFC"/>
                </a:solidFill>
              </a:rPr>
              <a:t>Nexo</a:t>
            </a:r>
            <a:endParaRPr lang="pt-BR" sz="1800" typeface="Inter"/>
          </a:p>
        </p:txBody>
      </p:sp>
      <p:sp>
        <p:nvSpPr>
          <p:cNvPr id="248" name="Shape 248"/>
          <p:cNvSpPr txBox="1"/>
          <p:nvPr/>
        </p:nvSpPr>
        <p:spPr>
          <a:xfrm>
            <a:off x="1428750" y="278130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49" name="Shape 249"/>
          <p:cNvSpPr txBox="1"/>
          <p:nvPr/>
        </p:nvSpPr>
        <p:spPr>
          <a:xfrm>
            <a:off x="1428750" y="287655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Aplicativos H2O</a:t>
            </a:r>
            <a:endParaRPr lang="pt-BR" sz="1100" typeface="Inter"/>
          </a:p>
        </p:txBody>
      </p:sp>
      <p:sp>
        <p:nvSpPr>
          <p:cNvPr id="250" name="Shape 250"/>
          <p:cNvSpPr txBox="1"/>
          <p:nvPr/>
        </p:nvSpPr>
        <p:spPr>
          <a:xfrm>
            <a:off x="3905250" y="278130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51" name="Shape 251"/>
          <p:cNvSpPr txBox="1"/>
          <p:nvPr/>
        </p:nvSpPr>
        <p:spPr>
          <a:xfrm>
            <a:off x="3905250" y="287655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Backoffice</a:t>
            </a:r>
            <a:endParaRPr lang="pt-BR" sz="1100" typeface="Inter"/>
          </a:p>
        </p:txBody>
      </p:sp>
      <p:sp>
        <p:nvSpPr>
          <p:cNvPr id="252" name="Shape 252"/>
          <p:cNvSpPr txBox="1"/>
          <p:nvPr/>
        </p:nvSpPr>
        <p:spPr>
          <a:xfrm>
            <a:off x="7848600" y="278130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53" name="Shape 253"/>
          <p:cNvSpPr txBox="1"/>
          <p:nvPr/>
        </p:nvSpPr>
        <p:spPr>
          <a:xfrm>
            <a:off x="7848600" y="287655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CRM</a:t>
            </a:r>
            <a:endParaRPr lang="pt-BR" sz="1100" typeface="Inter"/>
          </a:p>
        </p:txBody>
      </p:sp>
      <p:sp>
        <p:nvSpPr>
          <p:cNvPr id="254" name="Shape 254"/>
          <p:cNvSpPr txBox="1"/>
          <p:nvPr/>
        </p:nvSpPr>
        <p:spPr>
          <a:xfrm>
            <a:off x="10325100" y="278130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55" name="Shape 255"/>
          <p:cNvSpPr txBox="1"/>
          <p:nvPr/>
        </p:nvSpPr>
        <p:spPr>
          <a:xfrm>
            <a:off x="10325100" y="287655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ERP</a:t>
            </a:r>
            <a:endParaRPr lang="pt-BR" sz="1100" typeface="Inter"/>
          </a:p>
        </p:txBody>
      </p:sp>
      <p:sp>
        <p:nvSpPr>
          <p:cNvPr id="256" name="Shape 256"/>
          <p:cNvSpPr txBox="1"/>
          <p:nvPr/>
        </p:nvSpPr>
        <p:spPr>
          <a:xfrm>
            <a:off x="1428750" y="470535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57" name="Shape 257"/>
          <p:cNvSpPr txBox="1"/>
          <p:nvPr/>
        </p:nvSpPr>
        <p:spPr>
          <a:xfrm>
            <a:off x="1428750" y="480060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Análise de crédito</a:t>
            </a:r>
            <a:endParaRPr lang="pt-BR" sz="1100" typeface="Inter"/>
          </a:p>
        </p:txBody>
      </p:sp>
      <p:sp>
        <p:nvSpPr>
          <p:cNvPr id="258" name="Shape 258"/>
          <p:cNvSpPr txBox="1"/>
          <p:nvPr/>
        </p:nvSpPr>
        <p:spPr>
          <a:xfrm>
            <a:off x="3905250" y="470535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59" name="Shape 259"/>
          <p:cNvSpPr txBox="1"/>
          <p:nvPr/>
        </p:nvSpPr>
        <p:spPr>
          <a:xfrm>
            <a:off x="3905250" y="480060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WhatsApp e e-mail</a:t>
            </a:r>
            <a:endParaRPr lang="pt-BR" sz="1100" typeface="Inter"/>
          </a:p>
        </p:txBody>
      </p:sp>
      <p:sp>
        <p:nvSpPr>
          <p:cNvPr id="260" name="Shape 260"/>
          <p:cNvSpPr txBox="1"/>
          <p:nvPr/>
        </p:nvSpPr>
        <p:spPr>
          <a:xfrm>
            <a:off x="7848600" y="470535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61" name="Shape 261"/>
          <p:cNvSpPr txBox="1"/>
          <p:nvPr/>
        </p:nvSpPr>
        <p:spPr>
          <a:xfrm>
            <a:off x="7848600" y="480060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Assinatura digital</a:t>
            </a:r>
            <a:endParaRPr lang="pt-BR" sz="1100" typeface="Inter"/>
          </a:p>
        </p:txBody>
      </p:sp>
      <p:sp>
        <p:nvSpPr>
          <p:cNvPr id="262" name="Shape 262"/>
          <p:cNvSpPr txBox="1"/>
          <p:nvPr/>
        </p:nvSpPr>
        <p:spPr>
          <a:xfrm>
            <a:off x="10325100" y="4705350"/>
            <a:ext cx="2000250" cy="36195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33434C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63" name="Shape 263"/>
          <p:cNvSpPr txBox="1"/>
          <p:nvPr/>
        </p:nvSpPr>
        <p:spPr>
          <a:xfrm>
            <a:off x="10325100" y="480060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typeface="Inter">
                <a:solidFill>
                  <a:srgbClr val="AAB6BD"/>
                </a:solidFill>
              </a:rPr>
              <a:t>Fluxos de aprovação</a:t>
            </a:r>
            <a:endParaRPr lang="pt-BR" sz="1100" typeface="Inter"/>
          </a:p>
        </p:txBody>
      </p:sp>
      <p:sp>
        <p:nvSpPr>
          <p:cNvPr id="264" name="Shape 264"/>
          <p:cNvSpPr txBox="1"/>
          <p:nvPr/>
        </p:nvSpPr>
        <p:spPr>
          <a:xfrm>
            <a:off x="609600" y="58102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43B9F1"/>
                </a:solidFill>
              </a:rPr>
              <a:t>PRÓXIMOS PASSOS</a:t>
            </a:r>
            <a:endParaRPr lang="pt-BR" sz="1000" typeface="Inter"/>
          </a:p>
        </p:txBody>
      </p:sp>
      <p:sp>
        <p:nvSpPr>
          <p:cNvPr id="265" name="Shape 265"/>
          <p:cNvSpPr txBox="1"/>
          <p:nvPr/>
        </p:nvSpPr>
        <p:spPr>
          <a:xfrm>
            <a:off x="2305050" y="58102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typeface="Inter">
                <a:solidFill>
                  <a:srgbClr val="AAB6BD"/>
                </a:solidFill>
              </a:rPr>
              <a:t>Campos condicionais · Upload de documentos · Aprovações · Dashboards · IA · Permissões</a:t>
            </a:r>
            <a:endParaRPr lang="pt-BR" sz="1200" typeface="Inter"/>
          </a:p>
        </p:txBody>
      </p:sp>
      <p:sp>
        <p:nvSpPr>
          <p:cNvPr id="266" name="Shape 266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267" name="Shape 267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08</a:t>
            </a:r>
            <a:endParaRPr lang="pt-BR" sz="1000" typeface="Inte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8" name="Shape 268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69" name="Shape 269"/>
          <p:cNvSpPr txBox="1"/>
          <p:nvPr/>
        </p:nvSpPr>
        <p:spPr>
          <a:xfrm>
            <a:off x="685800" y="819150"/>
            <a:ext cx="2286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200" b="1" typeface="JetBrains Mono">
                <a:solidFill>
                  <a:srgbClr val="43B9F1"/>
                </a:solidFill>
              </a:rPr>
              <a:t>H₂O NEXO</a:t>
            </a:r>
            <a:endParaRPr lang="pt-BR" sz="1200" typeface="JetBrains Mono"/>
          </a:p>
        </p:txBody>
      </p:sp>
      <p:sp>
        <p:nvSpPr>
          <p:cNvPr id="270" name="Shape 270"/>
          <p:cNvSpPr txBox="1"/>
          <p:nvPr/>
        </p:nvSpPr>
        <p:spPr>
          <a:xfrm>
            <a:off x="685800" y="1714500"/>
            <a:ext cx="6858000" cy="11620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4400" b="1" typeface="Inter">
                <a:solidFill>
                  <a:srgbClr val="F6FAFC"/>
                </a:solidFill>
              </a:rPr>
              <a:t>Cada formulário pode ser</a:t>
            </a:r>
            <a:endParaRPr lang="pt-BR" sz="4400" typeface="Inter"/>
          </a:p>
          <a:p>
            <a:pPr algn="left"/>
            <a:r>
              <a:rPr lang="pt-BR" sz="4400" b="1" typeface="Inter">
                <a:solidFill>
                  <a:srgbClr val="F6FAFC"/>
                </a:solidFill>
              </a:rPr>
              <a:t>o início de um novo processo.</a:t>
            </a:r>
            <a:endParaRPr lang="pt-BR" sz="4400" typeface="Inter"/>
          </a:p>
        </p:txBody>
      </p:sp>
      <p:sp>
        <p:nvSpPr>
          <p:cNvPr id="271" name="Shape 271"/>
          <p:cNvSpPr txBox="1"/>
          <p:nvPr/>
        </p:nvSpPr>
        <p:spPr>
          <a:xfrm>
            <a:off x="723900" y="3276600"/>
            <a:ext cx="5334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AAB6BD"/>
                </a:solidFill>
              </a:rPr>
              <a:t>Crie experiências personalizadas, centralize informações e transforme respostas em ações para o seu negócio.</a:t>
            </a:r>
            <a:endParaRPr lang="pt-BR" sz="1800" typeface="Inter"/>
          </a:p>
        </p:txBody>
      </p:sp>
      <p:sp>
        <p:nvSpPr>
          <p:cNvPr id="272" name="Shape 272"/>
          <p:cNvSpPr txBox="1"/>
          <p:nvPr/>
        </p:nvSpPr>
        <p:spPr>
          <a:xfrm>
            <a:off x="723900" y="4324350"/>
            <a:ext cx="2305050" cy="400050"/>
          </a:xfrm>
          <a:prstGeom prst="roundRect">
            <a:avLst/>
          </a:prstGeom>
          <a:solidFill>
            <a:srgbClr val="43B9F1"/>
          </a:solidFill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73" name="Shape 273"/>
          <p:cNvSpPr txBox="1"/>
          <p:nvPr/>
        </p:nvSpPr>
        <p:spPr>
          <a:xfrm>
            <a:off x="723900" y="4438650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400" b="1" typeface="Inter">
                <a:solidFill>
                  <a:srgbClr val="071016"/>
                </a:solidFill>
              </a:rPr>
              <a:t>Criar meu formulário</a:t>
            </a:r>
            <a:endParaRPr lang="pt-BR" sz="1400" typeface="Inter"/>
          </a:p>
        </p:txBody>
      </p:sp>
      <p:sp>
        <p:nvSpPr>
          <p:cNvPr id="274" name="Shape 274"/>
          <p:cNvSpPr txBox="1"/>
          <p:nvPr/>
        </p:nvSpPr>
        <p:spPr>
          <a:xfrm>
            <a:off x="723900" y="5314950"/>
            <a:ext cx="5905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700" typeface="Inter">
                <a:solidFill>
                  <a:srgbClr val="43B9F1"/>
                </a:solidFill>
              </a:rPr>
              <a:t>Crie, compartilhe e transforme respostas em ações.</a:t>
            </a:r>
            <a:endParaRPr lang="pt-BR" sz="1700" typeface="Inter"/>
          </a:p>
        </p:txBody>
      </p:sp>
      <p:sp>
        <p:nvSpPr>
          <p:cNvPr id="275" name="Shape 275"/>
          <p:cNvSpPr txBox="1"/>
          <p:nvPr/>
        </p:nvSpPr>
        <p:spPr>
          <a:xfrm>
            <a:off x="8229600" y="1562100"/>
            <a:ext cx="2476500" cy="2476500"/>
          </a:xfrm>
          <a:prstGeom prst="roundRect">
            <a:avLst/>
          </a:prstGeom>
          <a:solidFill>
            <a:srgbClr val="151619"/>
          </a:solidFill>
          <a:ln w="9525">
            <a:solidFill>
              <a:srgbClr val="43B9F1"/>
            </a:solidFill>
            <a:prstDash val="solid"/>
          </a:ln>
        </p:spPr>
        <p:txBody>
          <a:bodyPr wrap="square" anchor="top" lIns="0" rIns="0" tIns="0" bIns="0"/>
          <a:lstStyle/>
          <a:p>
            <a:pPr algn="left"/>
            <a:r>
              <a:rPr lang="pt-BR" sz="1800" typeface="Inter">
                <a:solidFill>
                  <a:srgbClr val="F6FAFC"/>
                </a:solidFill>
              </a:rPr>
              <a:t/>
            </a:r>
            <a:endParaRPr lang="pt-BR" sz="1800" typeface="Inter"/>
          </a:p>
        </p:txBody>
      </p:sp>
      <p:sp>
        <p:nvSpPr>
          <p:cNvPr id="276" name="Shape 276"/>
          <p:cNvSpPr txBox="1"/>
          <p:nvPr/>
        </p:nvSpPr>
        <p:spPr>
          <a:xfrm>
            <a:off x="8229600" y="2247900"/>
            <a:ext cx="24765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3600" b="1" typeface="JetBrains Mono">
                <a:solidFill>
                  <a:srgbClr val="43B9F1"/>
                </a:solidFill>
              </a:rPr>
              <a:t>H₂O</a:t>
            </a:r>
            <a:endParaRPr lang="pt-BR" sz="3600" typeface="JetBrains Mono"/>
          </a:p>
        </p:txBody>
      </p:sp>
      <p:sp>
        <p:nvSpPr>
          <p:cNvPr id="277" name="Shape 277"/>
          <p:cNvSpPr txBox="1"/>
          <p:nvPr/>
        </p:nvSpPr>
        <p:spPr>
          <a:xfrm>
            <a:off x="8229600" y="280035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2400" b="1" typeface="Inter">
                <a:solidFill>
                  <a:srgbClr val="F6FAFC"/>
                </a:solidFill>
              </a:rPr>
              <a:t>Nexo</a:t>
            </a:r>
            <a:endParaRPr lang="pt-BR" sz="2400" typeface="Inter"/>
          </a:p>
        </p:txBody>
      </p:sp>
      <p:sp>
        <p:nvSpPr>
          <p:cNvPr id="278" name="Line 278"/>
          <p:cNvSpPr/>
          <p:nvPr/>
        </p:nvSpPr>
        <p:spPr>
          <a:xfrm rot="0">
            <a:off x="8743950" y="3429000"/>
            <a:ext cx="1447800" cy="0"/>
          </a:xfrm>
          <a:prstGeom prst="line">
            <a:avLst/>
          </a:prstGeom>
          <a:ln w="19050">
            <a:solidFill>
              <a:srgbClr val="43B9F1"/>
            </a:solidFill>
          </a:ln>
        </p:spPr>
      </p:sp>
      <p:sp>
        <p:nvSpPr>
          <p:cNvPr id="279" name="Shape 279"/>
          <p:cNvSpPr txBox="1"/>
          <p:nvPr/>
        </p:nvSpPr>
        <p:spPr>
          <a:xfrm>
            <a:off x="8229600" y="367665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center"/>
            <a:r>
              <a:rPr lang="pt-BR" sz="1100" b="1" typeface="Inter">
                <a:solidFill>
                  <a:srgbClr val="AAB6BD"/>
                </a:solidFill>
              </a:rPr>
              <a:t>FORMULÁRIOS → AÇÕES</a:t>
            </a:r>
            <a:endParaRPr lang="pt-BR" sz="1100" typeface="Inter"/>
          </a:p>
        </p:txBody>
      </p:sp>
      <p:sp>
        <p:nvSpPr>
          <p:cNvPr id="280" name="Shape 280"/>
          <p:cNvSpPr txBox="1"/>
          <p:nvPr/>
        </p:nvSpPr>
        <p:spPr>
          <a:xfrm>
            <a:off x="609600" y="6477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eft"/>
            <a:r>
              <a:rPr lang="pt-BR" sz="1000" b="1" typeface="Inter">
                <a:solidFill>
                  <a:srgbClr val="5E6A72"/>
                </a:solidFill>
              </a:rPr>
              <a:t>H₂O NEXO</a:t>
            </a:r>
            <a:endParaRPr lang="pt-BR" sz="1000" typeface="Inter"/>
          </a:p>
        </p:txBody>
      </p:sp>
      <p:sp>
        <p:nvSpPr>
          <p:cNvPr id="281" name="Shape 281"/>
          <p:cNvSpPr txBox="1"/>
          <p:nvPr/>
        </p:nvSpPr>
        <p:spPr>
          <a:xfrm>
            <a:off x="11144250" y="6477000"/>
            <a:ext cx="438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right"/>
            <a:r>
              <a:rPr lang="pt-BR" sz="1000" typeface="Inter">
                <a:solidFill>
                  <a:srgbClr val="5E6A72"/>
                </a:solidFill>
              </a:rPr>
              <a:t>09</a:t>
            </a:r>
            <a:endParaRPr lang="pt-BR" sz="1000" typeface="Inte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2O Nexo">
  <a:themeElements>
    <a:clrScheme name="H2O">
      <a:dk1>
        <a:srgbClr val="101011"/>
      </a:dk1>
      <a:lt1>
        <a:srgbClr val="F6FAFC"/>
      </a:lt1>
      <a:dk2>
        <a:srgbClr val="151619"/>
      </a:dk2>
      <a:lt2>
        <a:srgbClr val="AAB6BD"/>
      </a:lt2>
      <a:accent1>
        <a:srgbClr val="43B9F1"/>
      </a:accent1>
      <a:accent2>
        <a:srgbClr val="188BC2"/>
      </a:accent2>
      <a:accent3>
        <a:srgbClr val="76D6B0"/>
      </a:accent3>
      <a:accent4>
        <a:srgbClr val="28343B"/>
      </a:accent4>
      <a:accent5>
        <a:srgbClr val="5E6A72"/>
      </a:accent5>
      <a:accent6>
        <a:srgbClr val="F5F8F9"/>
      </a:accent6>
      <a:hlink>
        <a:srgbClr val="43B9F1"/>
      </a:hlink>
      <a:folHlink>
        <a:srgbClr val="188BC2"/>
      </a:folHlink>
    </a:clrScheme>
    <a:fontScheme name="H2O">
      <a:majorFont>
        <a:latin typeface="Inter"/>
      </a:majorFont>
      <a:minorFont>
        <a:latin typeface="Inter"/>
      </a:minorFont>
    </a:fontScheme>
    <a:fmtScheme name="H2O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H2O Nexo</Application>
  <PresentationFormat>On-screen Show (16:9)</PresentationFormat>
  <Slides>9</Slides>
  <Company>H2O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H2O Nexo — Pitch</dc:title>
  <dc:subject>H2O Challenge 2026</dc:subject>
  <dc:creator>H2O Nexo</dc:creator>
  <cp:lastModifiedBy>H2O Nexo</cp:lastModifiedBy>
</cp:coreProperties>
</file>